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5" r:id="rId19"/>
    <p:sldId id="316" r:id="rId20"/>
    <p:sldId id="317" r:id="rId21"/>
    <p:sldId id="318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A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B564CD-7A01-E65C-CFBA-7E2CACF4D207}" v="17" dt="2026-09-29T21:39:14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6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FELIPE CABALLERO CHOLES" userId="S::afcaballero@universidadean.edu.co::ecc56502-7cfd-4277-9b49-cffe1d5bb253" providerId="AD" clId="Web-{F1B564CD-7A01-E65C-CFBA-7E2CACF4D207}"/>
    <pc:docChg chg="modSld">
      <pc:chgData name="ANDRES FELIPE CABALLERO CHOLES" userId="S::afcaballero@universidadean.edu.co::ecc56502-7cfd-4277-9b49-cffe1d5bb253" providerId="AD" clId="Web-{F1B564CD-7A01-E65C-CFBA-7E2CACF4D207}" dt="2026-09-29T21:39:13.571" v="14" actId="20577"/>
      <pc:docMkLst>
        <pc:docMk/>
      </pc:docMkLst>
      <pc:sldChg chg="modSp">
        <pc:chgData name="ANDRES FELIPE CABALLERO CHOLES" userId="S::afcaballero@universidadean.edu.co::ecc56502-7cfd-4277-9b49-cffe1d5bb253" providerId="AD" clId="Web-{F1B564CD-7A01-E65C-CFBA-7E2CACF4D207}" dt="2026-09-29T21:39:13.571" v="14" actId="20577"/>
        <pc:sldMkLst>
          <pc:docMk/>
          <pc:sldMk cId="0" sldId="317"/>
        </pc:sldMkLst>
        <pc:spChg chg="mod">
          <ac:chgData name="ANDRES FELIPE CABALLERO CHOLES" userId="S::afcaballero@universidadean.edu.co::ecc56502-7cfd-4277-9b49-cffe1d5bb253" providerId="AD" clId="Web-{F1B564CD-7A01-E65C-CFBA-7E2CACF4D207}" dt="2026-09-29T21:39:13.571" v="14" actId="20577"/>
          <ac:spMkLst>
            <pc:docMk/>
            <pc:sldMk cId="0" sldId="317"/>
            <ac:spMk id="22" creationId="{00000000-0000-0000-0000-000000000000}"/>
          </ac:spMkLst>
        </pc:spChg>
      </pc:sldChg>
      <pc:sldChg chg="modSp">
        <pc:chgData name="ANDRES FELIPE CABALLERO CHOLES" userId="S::afcaballero@universidadean.edu.co::ecc56502-7cfd-4277-9b49-cffe1d5bb253" providerId="AD" clId="Web-{F1B564CD-7A01-E65C-CFBA-7E2CACF4D207}" dt="2026-09-29T21:38:29.413" v="0" actId="20577"/>
        <pc:sldMkLst>
          <pc:docMk/>
          <pc:sldMk cId="0" sldId="318"/>
        </pc:sldMkLst>
        <pc:spChg chg="mod">
          <ac:chgData name="ANDRES FELIPE CABALLERO CHOLES" userId="S::afcaballero@universidadean.edu.co::ecc56502-7cfd-4277-9b49-cffe1d5bb253" providerId="AD" clId="Web-{F1B564CD-7A01-E65C-CFBA-7E2CACF4D207}" dt="2026-09-29T21:38:29.413" v="0" actId="20577"/>
          <ac:spMkLst>
            <pc:docMk/>
            <pc:sldMk cId="0" sldId="318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962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D5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781050"/>
            <a:ext cx="1976617" cy="4381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19345" y="699046"/>
            <a:ext cx="19050" cy="6096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pic>
        <p:nvPicPr>
          <p:cNvPr id="5" name="Image 1"/>
          <p:cNvPicPr>
            <a:picLocks noChangeAspect="1"/>
          </p:cNvPicPr>
          <p:nvPr/>
        </p:nvPicPr>
        <p:blipFill>
          <a:blip r:embed="rId3"/>
          <a:srcRect l="4236" t="-229" r="41207"/>
          <a:stretch>
            <a:fillRect/>
          </a:stretch>
        </p:blipFill>
        <p:spPr>
          <a:xfrm>
            <a:off x="11239500" y="2000250"/>
            <a:ext cx="6477000" cy="6667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0" y="7524750"/>
            <a:ext cx="2095500" cy="194354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428750" y="2381250"/>
            <a:ext cx="10668000" cy="6858000"/>
          </a:xfrm>
          <a:prstGeom prst="rect">
            <a:avLst/>
          </a:prstGeom>
          <a:gradFill rotWithShape="1">
            <a:gsLst>
              <a:gs pos="0">
                <a:srgbClr val="3DBAB7">
                  <a:alpha val="100000"/>
                </a:srgbClr>
              </a:gs>
              <a:gs pos="100000">
                <a:srgbClr val="4FCBC8">
                  <a:alpha val="100000"/>
                </a:srgbClr>
              </a:gs>
            </a:gsLst>
            <a:lin ang="2700000" scaled="0"/>
          </a:gradFill>
          <a:ln/>
          <a:effectLst>
            <a:outerShdw blurRad="762000" dist="28575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2476500" y="2800350"/>
            <a:ext cx="419100" cy="419100"/>
          </a:xfrm>
          <a:prstGeom prst="ellipse">
            <a:avLst/>
          </a:prstGeom>
          <a:solidFill>
            <a:srgbClr val="4D5158"/>
          </a:solidFill>
          <a:ln/>
          <a:effectLst>
            <a:outerShdw blurRad="9525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2476500" y="8401050"/>
            <a:ext cx="419100" cy="419100"/>
          </a:xfrm>
          <a:prstGeom prst="ellipse">
            <a:avLst/>
          </a:prstGeom>
          <a:solidFill>
            <a:srgbClr val="4D5158"/>
          </a:solidFill>
          <a:ln/>
          <a:effectLst>
            <a:outerShdw blurRad="9525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2476500" y="3184327"/>
            <a:ext cx="9429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COHORTE I 2026</a:t>
            </a:r>
            <a:endParaRPr lang="en-US" sz="2100"/>
          </a:p>
        </p:txBody>
      </p:sp>
      <p:sp>
        <p:nvSpPr>
          <p:cNvPr id="11" name="Text 6"/>
          <p:cNvSpPr/>
          <p:nvPr/>
        </p:nvSpPr>
        <p:spPr>
          <a:xfrm>
            <a:off x="2476500" y="3774877"/>
            <a:ext cx="942975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964"/>
              </a:lnSpc>
              <a:buNone/>
            </a:pPr>
            <a:r>
              <a:rPr lang="en-US" sz="6000" b="1">
                <a:ln w="28575">
                  <a:solidFill>
                    <a:srgbClr val="FFFFFF"/>
                  </a:solidFill>
                </a:ln>
                <a:solidFill>
                  <a:srgbClr val="000000">
                    <a:alpha val="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KICK-OFF MENTORES</a:t>
            </a:r>
          </a:p>
        </p:txBody>
      </p:sp>
      <p:sp>
        <p:nvSpPr>
          <p:cNvPr id="12" name="Text 7"/>
          <p:cNvSpPr/>
          <p:nvPr/>
        </p:nvSpPr>
        <p:spPr>
          <a:xfrm>
            <a:off x="2476500" y="4738688"/>
            <a:ext cx="9429750" cy="1317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1333"/>
              </a:lnSpc>
              <a:buNone/>
            </a:pPr>
            <a:r>
              <a:rPr lang="en-US" sz="10950" b="1" kern="0" spc="-219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</a:t>
            </a:r>
            <a:endParaRPr lang="en-US" sz="10950"/>
          </a:p>
        </p:txBody>
      </p:sp>
      <p:sp>
        <p:nvSpPr>
          <p:cNvPr id="13" name="Text 8"/>
          <p:cNvSpPr/>
          <p:nvPr/>
        </p:nvSpPr>
        <p:spPr>
          <a:xfrm>
            <a:off x="2476500" y="6018014"/>
            <a:ext cx="846683" cy="1359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333"/>
              </a:lnSpc>
              <a:buNone/>
            </a:pPr>
            <a:r>
              <a:rPr lang="en-US" sz="10950" b="1" kern="0" spc="-219">
                <a:ln w="28575">
                  <a:solidFill>
                    <a:srgbClr val="FFFFFF"/>
                  </a:solidFill>
                </a:ln>
                <a:solidFill>
                  <a:srgbClr val="000000">
                    <a:alpha val="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950"/>
          </a:p>
        </p:txBody>
      </p:sp>
      <p:sp>
        <p:nvSpPr>
          <p:cNvPr id="14" name="Text 9"/>
          <p:cNvSpPr/>
          <p:nvPr/>
        </p:nvSpPr>
        <p:spPr>
          <a:xfrm>
            <a:off x="3246983" y="6018014"/>
            <a:ext cx="6799734" cy="1359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333"/>
              </a:lnSpc>
              <a:buNone/>
            </a:pPr>
            <a:r>
              <a:rPr lang="en-US" sz="10950" b="1" kern="0" spc="-219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VENTURE</a:t>
            </a:r>
            <a:endParaRPr lang="en-US" sz="10950"/>
          </a:p>
        </p:txBody>
      </p:sp>
      <p:sp>
        <p:nvSpPr>
          <p:cNvPr id="15" name="Text 10"/>
          <p:cNvSpPr/>
          <p:nvPr/>
        </p:nvSpPr>
        <p:spPr>
          <a:xfrm>
            <a:off x="2476500" y="7643813"/>
            <a:ext cx="843724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667"/>
              </a:lnSpc>
              <a:buNone/>
            </a:pP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ruta de acompañamiento, las asignaciones y los criterios de seguimiento de la Cohorte I.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AF92EBE-4F43-07B5-D9F6-E2387029E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0342" y="723900"/>
            <a:ext cx="2114550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sp>
        <p:nvSpPr>
          <p:cNvPr id="4" name="Text 1"/>
          <p:cNvSpPr/>
          <p:nvPr/>
        </p:nvSpPr>
        <p:spPr>
          <a:xfrm>
            <a:off x="914400" y="1809750"/>
            <a:ext cx="942975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097"/>
              </a:lnSpc>
              <a:buNone/>
            </a:pPr>
            <a:r>
              <a:rPr lang="en-US" sz="7800" b="1" kern="0" spc="-156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7800"/>
          </a:p>
        </p:txBody>
      </p:sp>
      <p:sp>
        <p:nvSpPr>
          <p:cNvPr id="5" name="Shape 2"/>
          <p:cNvSpPr/>
          <p:nvPr/>
        </p:nvSpPr>
        <p:spPr>
          <a:xfrm>
            <a:off x="914400" y="3257550"/>
            <a:ext cx="8572500" cy="9525"/>
          </a:xfrm>
          <a:prstGeom prst="rect">
            <a:avLst/>
          </a:prstGeom>
          <a:solidFill>
            <a:srgbClr val="CFE3E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438525"/>
            <a:ext cx="17811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</a:p>
        </p:txBody>
      </p:sp>
      <p:sp>
        <p:nvSpPr>
          <p:cNvPr id="7" name="Text 4"/>
          <p:cNvSpPr/>
          <p:nvPr/>
        </p:nvSpPr>
        <p:spPr>
          <a:xfrm>
            <a:off x="2762250" y="3438525"/>
            <a:ext cx="73971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>
                <a:solidFill>
                  <a:srgbClr val="4D5158"/>
                </a:solidFill>
                <a:latin typeface="Poppins"/>
                <a:ea typeface="Poppins" pitchFamily="34" charset="-122"/>
                <a:cs typeface="Poppins"/>
              </a:rPr>
              <a:t>Contexto Science2Venture</a:t>
            </a:r>
          </a:p>
        </p:txBody>
      </p:sp>
      <p:sp>
        <p:nvSpPr>
          <p:cNvPr id="8" name="Shape 5"/>
          <p:cNvSpPr/>
          <p:nvPr/>
        </p:nvSpPr>
        <p:spPr>
          <a:xfrm>
            <a:off x="914400" y="4010025"/>
            <a:ext cx="8572500" cy="9525"/>
          </a:xfrm>
          <a:prstGeom prst="rect">
            <a:avLst/>
          </a:prstGeom>
          <a:solidFill>
            <a:srgbClr val="CFE3E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191000"/>
            <a:ext cx="17811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</a:p>
        </p:txBody>
      </p:sp>
      <p:sp>
        <p:nvSpPr>
          <p:cNvPr id="10" name="Text 7"/>
          <p:cNvSpPr/>
          <p:nvPr/>
        </p:nvSpPr>
        <p:spPr>
          <a:xfrm>
            <a:off x="2762250" y="4191000"/>
            <a:ext cx="73971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Cohorte I</a:t>
            </a:r>
          </a:p>
        </p:txBody>
      </p:sp>
      <p:sp>
        <p:nvSpPr>
          <p:cNvPr id="11" name="Shape 8"/>
          <p:cNvSpPr/>
          <p:nvPr/>
        </p:nvSpPr>
        <p:spPr>
          <a:xfrm>
            <a:off x="914400" y="4762500"/>
            <a:ext cx="8572500" cy="9525"/>
          </a:xfrm>
          <a:prstGeom prst="rect">
            <a:avLst/>
          </a:prstGeom>
          <a:solidFill>
            <a:srgbClr val="CFE3E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943475"/>
            <a:ext cx="17811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</a:p>
        </p:txBody>
      </p:sp>
      <p:sp>
        <p:nvSpPr>
          <p:cNvPr id="13" name="Text 10"/>
          <p:cNvSpPr/>
          <p:nvPr/>
        </p:nvSpPr>
        <p:spPr>
          <a:xfrm>
            <a:off x="2762250" y="4943475"/>
            <a:ext cx="73971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Ruta de acompañamiento</a:t>
            </a:r>
          </a:p>
        </p:txBody>
      </p:sp>
      <p:sp>
        <p:nvSpPr>
          <p:cNvPr id="14" name="Shape 11"/>
          <p:cNvSpPr/>
          <p:nvPr/>
        </p:nvSpPr>
        <p:spPr>
          <a:xfrm>
            <a:off x="914400" y="5514975"/>
            <a:ext cx="8572500" cy="9525"/>
          </a:xfrm>
          <a:prstGeom prst="rect">
            <a:avLst/>
          </a:prstGeom>
          <a:solidFill>
            <a:srgbClr val="CFE3E3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695950"/>
            <a:ext cx="17811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</a:p>
        </p:txBody>
      </p:sp>
      <p:sp>
        <p:nvSpPr>
          <p:cNvPr id="16" name="Text 13"/>
          <p:cNvSpPr/>
          <p:nvPr/>
        </p:nvSpPr>
        <p:spPr>
          <a:xfrm>
            <a:off x="2762250" y="5695950"/>
            <a:ext cx="73971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 del mentor</a:t>
            </a:r>
          </a:p>
        </p:txBody>
      </p:sp>
      <p:sp>
        <p:nvSpPr>
          <p:cNvPr id="17" name="Shape 14"/>
          <p:cNvSpPr/>
          <p:nvPr/>
        </p:nvSpPr>
        <p:spPr>
          <a:xfrm>
            <a:off x="914400" y="6267450"/>
            <a:ext cx="8572500" cy="9525"/>
          </a:xfrm>
          <a:prstGeom prst="rect">
            <a:avLst/>
          </a:prstGeom>
          <a:solidFill>
            <a:srgbClr val="CFE3E3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6448425"/>
            <a:ext cx="17811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</a:p>
        </p:txBody>
      </p:sp>
      <p:sp>
        <p:nvSpPr>
          <p:cNvPr id="19" name="Text 16"/>
          <p:cNvSpPr/>
          <p:nvPr/>
        </p:nvSpPr>
        <p:spPr>
          <a:xfrm>
            <a:off x="2762250" y="6448425"/>
            <a:ext cx="73971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Asignaciones</a:t>
            </a:r>
          </a:p>
        </p:txBody>
      </p:sp>
      <p:sp>
        <p:nvSpPr>
          <p:cNvPr id="20" name="Shape 17"/>
          <p:cNvSpPr/>
          <p:nvPr/>
        </p:nvSpPr>
        <p:spPr>
          <a:xfrm>
            <a:off x="914400" y="7019925"/>
            <a:ext cx="8572500" cy="9525"/>
          </a:xfrm>
          <a:prstGeom prst="rect">
            <a:avLst/>
          </a:prstGeom>
          <a:solidFill>
            <a:srgbClr val="CFE3E3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7200900"/>
            <a:ext cx="17811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</a:p>
        </p:txBody>
      </p:sp>
      <p:sp>
        <p:nvSpPr>
          <p:cNvPr id="22" name="Text 19"/>
          <p:cNvSpPr/>
          <p:nvPr/>
        </p:nvSpPr>
        <p:spPr>
          <a:xfrm>
            <a:off x="2762250" y="7200900"/>
            <a:ext cx="73971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Seguimientos</a:t>
            </a:r>
          </a:p>
        </p:txBody>
      </p:sp>
      <p:sp>
        <p:nvSpPr>
          <p:cNvPr id="24" name="Shape 21"/>
          <p:cNvSpPr/>
          <p:nvPr/>
        </p:nvSpPr>
        <p:spPr>
          <a:xfrm>
            <a:off x="914400" y="7772400"/>
            <a:ext cx="8572500" cy="9525"/>
          </a:xfrm>
          <a:prstGeom prst="rect">
            <a:avLst/>
          </a:prstGeom>
          <a:solidFill>
            <a:srgbClr val="CFE3E3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" y="7953375"/>
            <a:ext cx="17811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</a:p>
        </p:txBody>
      </p:sp>
      <p:sp>
        <p:nvSpPr>
          <p:cNvPr id="26" name="Text 23"/>
          <p:cNvSpPr/>
          <p:nvPr/>
        </p:nvSpPr>
        <p:spPr>
          <a:xfrm>
            <a:off x="2762250" y="7953375"/>
            <a:ext cx="74009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Próximos pasos</a:t>
            </a: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rcRect l="16148" r="16148"/>
          <a:stretch/>
        </p:blipFill>
        <p:spPr>
          <a:xfrm>
            <a:off x="10325100" y="1619250"/>
            <a:ext cx="7048500" cy="6147495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10339337" y="7766745"/>
            <a:ext cx="7048500" cy="1663005"/>
          </a:xfrm>
          <a:prstGeom prst="rect">
            <a:avLst/>
          </a:prstGeom>
          <a:solidFill>
            <a:srgbClr val="40C0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5"/>
          <p:cNvSpPr/>
          <p:nvPr/>
        </p:nvSpPr>
        <p:spPr>
          <a:xfrm>
            <a:off x="10668000" y="8014395"/>
            <a:ext cx="36913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COHORTE I 2026</a:t>
            </a:r>
          </a:p>
        </p:txBody>
      </p:sp>
      <p:sp>
        <p:nvSpPr>
          <p:cNvPr id="30" name="Text 26"/>
          <p:cNvSpPr/>
          <p:nvPr/>
        </p:nvSpPr>
        <p:spPr>
          <a:xfrm>
            <a:off x="10668000" y="8404920"/>
            <a:ext cx="64770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550" b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mentores · 32 iniciativas</a:t>
            </a:r>
          </a:p>
        </p:txBody>
      </p:sp>
      <p:sp>
        <p:nvSpPr>
          <p:cNvPr id="34" name="Text 30"/>
          <p:cNvSpPr/>
          <p:nvPr/>
        </p:nvSpPr>
        <p:spPr>
          <a:xfrm>
            <a:off x="914400" y="9591675"/>
            <a:ext cx="93062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/ 19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2A2BED18-BAF1-5810-1377-7891AB485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12192000" y="4191000"/>
            <a:ext cx="8572500" cy="8572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180000">
            <a:off x="11334749" y="1619248"/>
            <a:ext cx="5334002" cy="6667503"/>
          </a:xfrm>
          <a:prstGeom prst="rect">
            <a:avLst/>
          </a:prstGeom>
          <a:ln/>
          <a:effectLst>
            <a:outerShdw blurRad="571500" dist="285750" dir="5400000" algn="bl" rotWithShape="0">
              <a:srgbClr val="143C3C">
                <a:alpha val="25000"/>
              </a:srgbClr>
            </a:outerShdw>
          </a:effectLst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80000">
            <a:off x="11334749" y="1619248"/>
            <a:ext cx="5334002" cy="666750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0" y="1809750"/>
            <a:ext cx="1059561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6207"/>
              </a:lnSpc>
              <a:buNone/>
            </a:pPr>
            <a:r>
              <a:rPr lang="en-US" sz="7200" b="1" kern="0" spc="-144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es </a:t>
            </a:r>
            <a:r>
              <a:rPr lang="en-US" sz="7200" b="1" kern="0" spc="-144">
                <a:solidFill>
                  <a:srgbClr val="40C0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</a:t>
            </a:r>
            <a:endParaRPr lang="en-US" sz="7200"/>
          </a:p>
        </p:txBody>
      </p:sp>
      <p:sp>
        <p:nvSpPr>
          <p:cNvPr id="8" name="Text 3"/>
          <p:cNvSpPr/>
          <p:nvPr/>
        </p:nvSpPr>
        <p:spPr>
          <a:xfrm>
            <a:off x="914400" y="3981450"/>
            <a:ext cx="9244792" cy="180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667"/>
              </a:lnSpc>
              <a:buNone/>
            </a:pP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</a:t>
            </a:r>
            <a:r>
              <a:rPr lang="en-US" sz="2400" err="1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convocatoria</a:t>
            </a: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la Universidad Ean para </a:t>
            </a:r>
            <a:r>
              <a:rPr lang="en-US" sz="2400" err="1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acompañar</a:t>
            </a: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proyectos</a:t>
            </a: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</a:t>
            </a:r>
            <a:r>
              <a:rPr lang="en-US" sz="2400" err="1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investigación</a:t>
            </a: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aplicada</a:t>
            </a: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 de </a:t>
            </a:r>
            <a:r>
              <a:rPr lang="en-US" sz="24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</a:t>
            </a:r>
            <a:r>
              <a:rPr lang="en-US" sz="2400" b="1" err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científico-tecnológica</a:t>
            </a:r>
            <a:r>
              <a:rPr lang="en-US" sz="24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</a:t>
            </a:r>
            <a:r>
              <a:rPr lang="en-US" sz="2400" err="1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potencial</a:t>
            </a: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</a:t>
            </a:r>
            <a:r>
              <a:rPr lang="en-US" sz="2400" err="1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transferencia</a:t>
            </a: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 de </a:t>
            </a:r>
            <a:r>
              <a:rPr lang="en-US" sz="2400" err="1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creación</a:t>
            </a: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spin-off </a:t>
            </a:r>
            <a:r>
              <a:rPr lang="en-US" sz="2400" err="1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universitaria</a:t>
            </a:r>
            <a:r>
              <a:rPr lang="en-US" sz="240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400"/>
          </a:p>
        </p:txBody>
      </p:sp>
      <p:sp>
        <p:nvSpPr>
          <p:cNvPr id="10" name="Shape 5"/>
          <p:cNvSpPr/>
          <p:nvPr/>
        </p:nvSpPr>
        <p:spPr>
          <a:xfrm>
            <a:off x="914400" y="6976467"/>
            <a:ext cx="3276600" cy="2453283"/>
          </a:xfrm>
          <a:prstGeom prst="rect">
            <a:avLst/>
          </a:prstGeom>
          <a:solidFill>
            <a:srgbClr val="40C0C0"/>
          </a:solidFill>
          <a:ln/>
        </p:spPr>
      </p:sp>
      <p:sp>
        <p:nvSpPr>
          <p:cNvPr id="11" name="Text 6"/>
          <p:cNvSpPr/>
          <p:nvPr/>
        </p:nvSpPr>
        <p:spPr>
          <a:xfrm>
            <a:off x="1200150" y="7281267"/>
            <a:ext cx="29756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368"/>
              </a:lnSpc>
              <a:buNone/>
            </a:pPr>
            <a:r>
              <a:rPr lang="en-US" sz="4800" b="1">
                <a:ln w="19050">
                  <a:solidFill>
                    <a:srgbClr val="16353A"/>
                  </a:solidFill>
                </a:ln>
                <a:solidFill>
                  <a:srgbClr val="000000">
                    <a:alpha val="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TRL</a:t>
            </a:r>
            <a:endParaRPr lang="en-US" sz="4800"/>
          </a:p>
        </p:txBody>
      </p:sp>
      <p:sp>
        <p:nvSpPr>
          <p:cNvPr id="12" name="Text 7"/>
          <p:cNvSpPr/>
          <p:nvPr/>
        </p:nvSpPr>
        <p:spPr>
          <a:xfrm>
            <a:off x="1200150" y="7890867"/>
            <a:ext cx="2786253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2571"/>
              </a:lnSpc>
            </a:pPr>
            <a:r>
              <a:rPr lang="en-US" b="1" err="1">
                <a:solidFill>
                  <a:srgbClr val="16353A"/>
                </a:solidFill>
                <a:latin typeface="Poppins"/>
                <a:cs typeface="Poppins"/>
              </a:rPr>
              <a:t>Escalar</a:t>
            </a:r>
            <a:r>
              <a:rPr lang="en-US" b="1">
                <a:solidFill>
                  <a:srgbClr val="16353A"/>
                </a:solidFill>
                <a:latin typeface="Poppins"/>
                <a:cs typeface="Poppins"/>
              </a:rPr>
              <a:t> el pipeline de </a:t>
            </a:r>
            <a:r>
              <a:rPr lang="en-US" b="1" err="1">
                <a:solidFill>
                  <a:srgbClr val="16353A"/>
                </a:solidFill>
                <a:latin typeface="Poppins"/>
                <a:cs typeface="Poppins"/>
              </a:rPr>
              <a:t>investigación</a:t>
            </a:r>
            <a:r>
              <a:rPr lang="en-US" b="1">
                <a:solidFill>
                  <a:srgbClr val="16353A"/>
                </a:solidFill>
                <a:latin typeface="Poppins"/>
                <a:cs typeface="Poppins"/>
              </a:rPr>
              <a:t> </a:t>
            </a:r>
            <a:r>
              <a:rPr lang="en-US" b="1" err="1">
                <a:solidFill>
                  <a:srgbClr val="16353A"/>
                </a:solidFill>
                <a:latin typeface="Poppins"/>
                <a:cs typeface="Poppins"/>
              </a:rPr>
              <a:t>científico</a:t>
            </a:r>
            <a:r>
              <a:rPr lang="en-US" b="1">
                <a:solidFill>
                  <a:srgbClr val="16353A"/>
                </a:solidFill>
                <a:latin typeface="Poppins"/>
                <a:cs typeface="Poppins"/>
              </a:rPr>
              <a:t> </a:t>
            </a:r>
            <a:r>
              <a:rPr lang="en-US" b="1" err="1">
                <a:solidFill>
                  <a:srgbClr val="16353A"/>
                </a:solidFill>
                <a:latin typeface="Poppins"/>
                <a:cs typeface="Poppins"/>
              </a:rPr>
              <a:t>tecnológica</a:t>
            </a:r>
            <a:r>
              <a:rPr lang="en-US" b="1">
                <a:solidFill>
                  <a:srgbClr val="16353A"/>
                </a:solidFill>
                <a:latin typeface="Poppins"/>
                <a:cs typeface="Poppins"/>
              </a:rPr>
              <a:t> de la Universidad Ean</a:t>
            </a:r>
            <a:endParaRPr lang="es-ES"/>
          </a:p>
        </p:txBody>
      </p:sp>
      <p:sp>
        <p:nvSpPr>
          <p:cNvPr id="13" name="Shape 8"/>
          <p:cNvSpPr/>
          <p:nvPr/>
        </p:nvSpPr>
        <p:spPr>
          <a:xfrm>
            <a:off x="4419600" y="6976467"/>
            <a:ext cx="3276600" cy="2453283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14" name="Text 9"/>
          <p:cNvSpPr/>
          <p:nvPr/>
        </p:nvSpPr>
        <p:spPr>
          <a:xfrm>
            <a:off x="4705350" y="7281267"/>
            <a:ext cx="29756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368"/>
              </a:lnSpc>
              <a:buNone/>
            </a:pPr>
            <a:r>
              <a:rPr lang="en-US" sz="4800" b="1">
                <a:ln w="19050">
                  <a:solidFill>
                    <a:srgbClr val="40C0C0"/>
                  </a:solidFill>
                </a:ln>
                <a:solidFill>
                  <a:srgbClr val="000000">
                    <a:alpha val="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SPINOFF</a:t>
            </a:r>
            <a:endParaRPr lang="en-US" sz="4800"/>
          </a:p>
        </p:txBody>
      </p:sp>
      <p:sp>
        <p:nvSpPr>
          <p:cNvPr id="15" name="Text 10"/>
          <p:cNvSpPr/>
          <p:nvPr/>
        </p:nvSpPr>
        <p:spPr>
          <a:xfrm>
            <a:off x="4705350" y="7890867"/>
            <a:ext cx="2786253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2571"/>
              </a:lnSpc>
            </a:pPr>
            <a:r>
              <a:rPr lang="en-US" b="1">
                <a:solidFill>
                  <a:srgbClr val="FFFFFF"/>
                </a:solidFill>
                <a:latin typeface="Poppins"/>
                <a:cs typeface="Poppins"/>
              </a:rPr>
              <a:t>Ampliar el </a:t>
            </a:r>
            <a:r>
              <a:rPr lang="en-US" b="1" err="1">
                <a:solidFill>
                  <a:srgbClr val="FFFFFF"/>
                </a:solidFill>
                <a:latin typeface="Poppins"/>
                <a:cs typeface="Poppins"/>
              </a:rPr>
              <a:t>portafolio</a:t>
            </a:r>
            <a:r>
              <a:rPr lang="en-US" b="1">
                <a:solidFill>
                  <a:srgbClr val="FFFFFF"/>
                </a:solidFill>
                <a:latin typeface="Poppins"/>
                <a:cs typeface="Poppins"/>
              </a:rPr>
              <a:t> de Spinoff</a:t>
            </a:r>
          </a:p>
        </p:txBody>
      </p:sp>
      <p:sp>
        <p:nvSpPr>
          <p:cNvPr id="16" name="Shape 11"/>
          <p:cNvSpPr/>
          <p:nvPr/>
        </p:nvSpPr>
        <p:spPr>
          <a:xfrm>
            <a:off x="7924800" y="6976467"/>
            <a:ext cx="3276600" cy="2453283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17" name="Text 12"/>
          <p:cNvSpPr/>
          <p:nvPr/>
        </p:nvSpPr>
        <p:spPr>
          <a:xfrm>
            <a:off x="8210550" y="7281267"/>
            <a:ext cx="29756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368"/>
              </a:lnSpc>
              <a:buNone/>
            </a:pPr>
            <a:r>
              <a:rPr lang="en-US" sz="4800" b="1">
                <a:ln w="19050">
                  <a:solidFill>
                    <a:srgbClr val="40C0C0"/>
                  </a:solidFill>
                </a:ln>
                <a:solidFill>
                  <a:srgbClr val="000000">
                    <a:alpha val="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GTM</a:t>
            </a:r>
            <a:endParaRPr lang="en-US" sz="4800"/>
          </a:p>
        </p:txBody>
      </p:sp>
      <p:sp>
        <p:nvSpPr>
          <p:cNvPr id="18" name="Text 13"/>
          <p:cNvSpPr/>
          <p:nvPr/>
        </p:nvSpPr>
        <p:spPr>
          <a:xfrm>
            <a:off x="8164212" y="8044929"/>
            <a:ext cx="2786253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2571"/>
              </a:lnSpc>
            </a:pPr>
            <a:r>
              <a:rPr lang="en-US" b="1" err="1">
                <a:solidFill>
                  <a:srgbClr val="FFFFFF"/>
                </a:solidFill>
                <a:latin typeface="Poppins"/>
                <a:cs typeface="Poppins"/>
              </a:rPr>
              <a:t>Conectar</a:t>
            </a:r>
            <a:r>
              <a:rPr lang="en-US" b="1">
                <a:solidFill>
                  <a:srgbClr val="FFFFFF"/>
                </a:solidFill>
                <a:latin typeface="Poppins"/>
                <a:cs typeface="Poppins"/>
              </a:rPr>
              <a:t> </a:t>
            </a:r>
            <a:r>
              <a:rPr lang="en-US" b="1" err="1">
                <a:solidFill>
                  <a:srgbClr val="FFFFFF"/>
                </a:solidFill>
                <a:latin typeface="Poppins"/>
                <a:cs typeface="Poppins"/>
              </a:rPr>
              <a:t>soluciones</a:t>
            </a:r>
            <a:r>
              <a:rPr lang="en-US" b="1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en-US" b="1" err="1">
                <a:solidFill>
                  <a:srgbClr val="FFFFFF"/>
                </a:solidFill>
                <a:latin typeface="Poppins"/>
                <a:cs typeface="Poppins"/>
              </a:rPr>
              <a:t>eanistas</a:t>
            </a:r>
            <a:r>
              <a:rPr lang="en-US" b="1">
                <a:solidFill>
                  <a:srgbClr val="FFFFFF"/>
                </a:solidFill>
                <a:latin typeface="Poppins"/>
                <a:cs typeface="Poppins"/>
              </a:rPr>
              <a:t> con Mercado</a:t>
            </a:r>
            <a:endParaRPr lang="es-ES"/>
          </a:p>
        </p:txBody>
      </p:sp>
      <p:sp>
        <p:nvSpPr>
          <p:cNvPr id="19" name="Text 14"/>
          <p:cNvSpPr/>
          <p:nvPr/>
        </p:nvSpPr>
        <p:spPr>
          <a:xfrm>
            <a:off x="914400" y="9629775"/>
            <a:ext cx="9335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/ 19</a:t>
            </a: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B5D3F217-1244-EFE7-558C-4F863F39A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23" name="Imagen 35">
            <a:extLst>
              <a:ext uri="{FF2B5EF4-FFF2-40B4-BE49-F238E27FC236}">
                <a16:creationId xmlns:a16="http://schemas.microsoft.com/office/drawing/2014/main" id="{FC7B291B-BC0C-944F-FF9A-C1E7520426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14400" y="1428750"/>
            <a:ext cx="89522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COHORTE I 2026</a:t>
            </a:r>
          </a:p>
        </p:txBody>
      </p:sp>
      <p:sp>
        <p:nvSpPr>
          <p:cNvPr id="5" name="Text 2"/>
          <p:cNvSpPr/>
          <p:nvPr/>
        </p:nvSpPr>
        <p:spPr>
          <a:xfrm>
            <a:off x="914400" y="1838325"/>
            <a:ext cx="895220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8000"/>
              </a:lnSpc>
              <a:buNone/>
            </a:pPr>
            <a:r>
              <a:rPr lang="en-US" sz="5400" b="1" kern="0" spc="-108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iniciativas, 8 enfoques</a:t>
            </a:r>
          </a:p>
        </p:txBody>
      </p:sp>
      <p:sp>
        <p:nvSpPr>
          <p:cNvPr id="6" name="Text 3"/>
          <p:cNvSpPr/>
          <p:nvPr/>
        </p:nvSpPr>
        <p:spPr>
          <a:xfrm>
            <a:off x="914400" y="2671167"/>
            <a:ext cx="895220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667"/>
              </a:lnSpc>
              <a:buNone/>
            </a:pPr>
            <a:r>
              <a:rPr lang="en-US" sz="1950">
                <a:solidFill>
                  <a:srgbClr val="6B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Distribución de las 32 iniciativas que conforman la Cohorte I 2026.</a:t>
            </a:r>
            <a:endParaRPr lang="en-US" sz="1950"/>
          </a:p>
        </p:txBody>
      </p:sp>
      <p:sp>
        <p:nvSpPr>
          <p:cNvPr id="7" name="Text 4"/>
          <p:cNvSpPr/>
          <p:nvPr/>
        </p:nvSpPr>
        <p:spPr>
          <a:xfrm>
            <a:off x="14743956" y="1744266"/>
            <a:ext cx="1853044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9735"/>
              </a:lnSpc>
              <a:buNone/>
            </a:pPr>
            <a:r>
              <a:rPr lang="en-US" sz="11250" b="1">
                <a:solidFill>
                  <a:srgbClr val="40C0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</a:t>
            </a:r>
            <a:endParaRPr lang="en-US" sz="11250"/>
          </a:p>
        </p:txBody>
      </p:sp>
      <p:sp>
        <p:nvSpPr>
          <p:cNvPr id="8" name="Text 5"/>
          <p:cNvSpPr/>
          <p:nvPr/>
        </p:nvSpPr>
        <p:spPr>
          <a:xfrm>
            <a:off x="16580941" y="2658666"/>
            <a:ext cx="8688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</a:t>
            </a:r>
            <a:endParaRPr lang="en-US" sz="1650"/>
          </a:p>
        </p:txBody>
      </p:sp>
      <p:sp>
        <p:nvSpPr>
          <p:cNvPr id="9" name="Text 6"/>
          <p:cNvSpPr/>
          <p:nvPr/>
        </p:nvSpPr>
        <p:spPr>
          <a:xfrm>
            <a:off x="914400" y="4076700"/>
            <a:ext cx="154592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/ software</a:t>
            </a:r>
            <a:endParaRPr lang="en-US" sz="1725"/>
          </a:p>
        </p:txBody>
      </p:sp>
      <p:sp>
        <p:nvSpPr>
          <p:cNvPr id="10" name="Text 7"/>
          <p:cNvSpPr/>
          <p:nvPr/>
        </p:nvSpPr>
        <p:spPr>
          <a:xfrm>
            <a:off x="16999000" y="4000500"/>
            <a:ext cx="3746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2250"/>
          </a:p>
        </p:txBody>
      </p:sp>
      <p:sp>
        <p:nvSpPr>
          <p:cNvPr id="11" name="Shape 8"/>
          <p:cNvSpPr/>
          <p:nvPr/>
        </p:nvSpPr>
        <p:spPr>
          <a:xfrm>
            <a:off x="914400" y="4495800"/>
            <a:ext cx="16459200" cy="114300"/>
          </a:xfrm>
          <a:prstGeom prst="rect">
            <a:avLst/>
          </a:prstGeom>
          <a:solidFill>
            <a:srgbClr val="D2D8DA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4495800"/>
            <a:ext cx="16459200" cy="114300"/>
          </a:xfrm>
          <a:prstGeom prst="rect">
            <a:avLst/>
          </a:prstGeom>
          <a:solidFill>
            <a:srgbClr val="40C0C0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751636"/>
            <a:ext cx="15693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ClimateTech</a:t>
            </a:r>
            <a:endParaRPr lang="en-US" sz="1725"/>
          </a:p>
        </p:txBody>
      </p:sp>
      <p:sp>
        <p:nvSpPr>
          <p:cNvPr id="14" name="Text 11"/>
          <p:cNvSpPr/>
          <p:nvPr/>
        </p:nvSpPr>
        <p:spPr>
          <a:xfrm>
            <a:off x="17110174" y="4675436"/>
            <a:ext cx="26342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250"/>
          </a:p>
        </p:txBody>
      </p:sp>
      <p:sp>
        <p:nvSpPr>
          <p:cNvPr id="15" name="Shape 12"/>
          <p:cNvSpPr/>
          <p:nvPr/>
        </p:nvSpPr>
        <p:spPr>
          <a:xfrm>
            <a:off x="914400" y="5170736"/>
            <a:ext cx="16459200" cy="114300"/>
          </a:xfrm>
          <a:prstGeom prst="rect">
            <a:avLst/>
          </a:prstGeom>
          <a:solidFill>
            <a:srgbClr val="D2D8DA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400" y="5170736"/>
            <a:ext cx="8229600" cy="114300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426571"/>
            <a:ext cx="9199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AgTech</a:t>
            </a:r>
            <a:endParaRPr lang="en-US" sz="1725"/>
          </a:p>
        </p:txBody>
      </p:sp>
      <p:sp>
        <p:nvSpPr>
          <p:cNvPr id="18" name="Text 15"/>
          <p:cNvSpPr/>
          <p:nvPr/>
        </p:nvSpPr>
        <p:spPr>
          <a:xfrm>
            <a:off x="17110174" y="5350371"/>
            <a:ext cx="26342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250"/>
          </a:p>
        </p:txBody>
      </p:sp>
      <p:sp>
        <p:nvSpPr>
          <p:cNvPr id="19" name="Shape 16"/>
          <p:cNvSpPr/>
          <p:nvPr/>
        </p:nvSpPr>
        <p:spPr>
          <a:xfrm>
            <a:off x="914400" y="5845671"/>
            <a:ext cx="16459200" cy="114300"/>
          </a:xfrm>
          <a:prstGeom prst="rect">
            <a:avLst/>
          </a:prstGeom>
          <a:solidFill>
            <a:srgbClr val="D2D8DA"/>
          </a:solidFill>
          <a:ln/>
        </p:spPr>
      </p:sp>
      <p:sp>
        <p:nvSpPr>
          <p:cNvPr id="20" name="Shape 17"/>
          <p:cNvSpPr/>
          <p:nvPr/>
        </p:nvSpPr>
        <p:spPr>
          <a:xfrm>
            <a:off x="914400" y="5845671"/>
            <a:ext cx="8229600" cy="114300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6101507"/>
            <a:ext cx="139678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HealthTech</a:t>
            </a:r>
            <a:endParaRPr lang="en-US" sz="1725"/>
          </a:p>
        </p:txBody>
      </p:sp>
      <p:sp>
        <p:nvSpPr>
          <p:cNvPr id="22" name="Text 19"/>
          <p:cNvSpPr/>
          <p:nvPr/>
        </p:nvSpPr>
        <p:spPr>
          <a:xfrm>
            <a:off x="17099905" y="6025307"/>
            <a:ext cx="27369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50"/>
          </a:p>
        </p:txBody>
      </p:sp>
      <p:sp>
        <p:nvSpPr>
          <p:cNvPr id="23" name="Shape 20"/>
          <p:cNvSpPr/>
          <p:nvPr/>
        </p:nvSpPr>
        <p:spPr>
          <a:xfrm>
            <a:off x="914400" y="6520607"/>
            <a:ext cx="16459200" cy="114300"/>
          </a:xfrm>
          <a:prstGeom prst="rect">
            <a:avLst/>
          </a:prstGeom>
          <a:solidFill>
            <a:srgbClr val="D2D8DA"/>
          </a:solidFill>
          <a:ln/>
        </p:spPr>
      </p:sp>
      <p:sp>
        <p:nvSpPr>
          <p:cNvPr id="24" name="Shape 21"/>
          <p:cNvSpPr/>
          <p:nvPr/>
        </p:nvSpPr>
        <p:spPr>
          <a:xfrm>
            <a:off x="914400" y="6520607"/>
            <a:ext cx="6583680" cy="114300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" y="6776293"/>
            <a:ext cx="11904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DeepTech</a:t>
            </a:r>
            <a:endParaRPr lang="en-US" sz="1725"/>
          </a:p>
        </p:txBody>
      </p:sp>
      <p:sp>
        <p:nvSpPr>
          <p:cNvPr id="26" name="Text 23"/>
          <p:cNvSpPr/>
          <p:nvPr/>
        </p:nvSpPr>
        <p:spPr>
          <a:xfrm>
            <a:off x="17099905" y="6700093"/>
            <a:ext cx="27369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50"/>
          </a:p>
        </p:txBody>
      </p:sp>
      <p:sp>
        <p:nvSpPr>
          <p:cNvPr id="27" name="Shape 24"/>
          <p:cNvSpPr/>
          <p:nvPr/>
        </p:nvSpPr>
        <p:spPr>
          <a:xfrm>
            <a:off x="914400" y="7195393"/>
            <a:ext cx="16459200" cy="114300"/>
          </a:xfrm>
          <a:prstGeom prst="rect">
            <a:avLst/>
          </a:prstGeom>
          <a:solidFill>
            <a:srgbClr val="D2D8DA"/>
          </a:solidFill>
          <a:ln/>
        </p:spPr>
      </p:sp>
      <p:sp>
        <p:nvSpPr>
          <p:cNvPr id="28" name="Shape 25"/>
          <p:cNvSpPr/>
          <p:nvPr/>
        </p:nvSpPr>
        <p:spPr>
          <a:xfrm>
            <a:off x="914400" y="7195393"/>
            <a:ext cx="6583680" cy="114300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29" name="Text 26"/>
          <p:cNvSpPr/>
          <p:nvPr/>
        </p:nvSpPr>
        <p:spPr>
          <a:xfrm>
            <a:off x="914400" y="7451229"/>
            <a:ext cx="8795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EdTech</a:t>
            </a:r>
            <a:endParaRPr lang="en-US" sz="1725"/>
          </a:p>
        </p:txBody>
      </p:sp>
      <p:sp>
        <p:nvSpPr>
          <p:cNvPr id="30" name="Text 27"/>
          <p:cNvSpPr/>
          <p:nvPr/>
        </p:nvSpPr>
        <p:spPr>
          <a:xfrm>
            <a:off x="17134731" y="7375029"/>
            <a:ext cx="23886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50"/>
          </a:p>
        </p:txBody>
      </p:sp>
      <p:sp>
        <p:nvSpPr>
          <p:cNvPr id="31" name="Shape 28"/>
          <p:cNvSpPr/>
          <p:nvPr/>
        </p:nvSpPr>
        <p:spPr>
          <a:xfrm>
            <a:off x="914400" y="7870329"/>
            <a:ext cx="16459200" cy="114300"/>
          </a:xfrm>
          <a:prstGeom prst="rect">
            <a:avLst/>
          </a:prstGeom>
          <a:solidFill>
            <a:srgbClr val="D2D8DA"/>
          </a:solidFill>
          <a:ln/>
        </p:spPr>
      </p:sp>
      <p:sp>
        <p:nvSpPr>
          <p:cNvPr id="32" name="Shape 29"/>
          <p:cNvSpPr/>
          <p:nvPr/>
        </p:nvSpPr>
        <p:spPr>
          <a:xfrm>
            <a:off x="914400" y="7870329"/>
            <a:ext cx="3291840" cy="114300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33" name="Text 30"/>
          <p:cNvSpPr/>
          <p:nvPr/>
        </p:nvSpPr>
        <p:spPr>
          <a:xfrm>
            <a:off x="914400" y="8126164"/>
            <a:ext cx="477348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Física aplicada y ciencia de materiales</a:t>
            </a:r>
            <a:endParaRPr lang="en-US" sz="1725"/>
          </a:p>
        </p:txBody>
      </p:sp>
      <p:sp>
        <p:nvSpPr>
          <p:cNvPr id="34" name="Text 31"/>
          <p:cNvSpPr/>
          <p:nvPr/>
        </p:nvSpPr>
        <p:spPr>
          <a:xfrm>
            <a:off x="17186672" y="8049964"/>
            <a:ext cx="1869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50"/>
          </a:p>
        </p:txBody>
      </p:sp>
      <p:sp>
        <p:nvSpPr>
          <p:cNvPr id="35" name="Shape 32"/>
          <p:cNvSpPr/>
          <p:nvPr/>
        </p:nvSpPr>
        <p:spPr>
          <a:xfrm>
            <a:off x="914400" y="8545264"/>
            <a:ext cx="16459200" cy="114300"/>
          </a:xfrm>
          <a:prstGeom prst="rect">
            <a:avLst/>
          </a:prstGeom>
          <a:solidFill>
            <a:srgbClr val="D2D8DA"/>
          </a:solidFill>
          <a:ln/>
        </p:spPr>
      </p:sp>
      <p:sp>
        <p:nvSpPr>
          <p:cNvPr id="36" name="Shape 33"/>
          <p:cNvSpPr/>
          <p:nvPr/>
        </p:nvSpPr>
        <p:spPr>
          <a:xfrm>
            <a:off x="914400" y="8545264"/>
            <a:ext cx="1645920" cy="114300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37" name="Text 34"/>
          <p:cNvSpPr/>
          <p:nvPr/>
        </p:nvSpPr>
        <p:spPr>
          <a:xfrm>
            <a:off x="914400" y="8801100"/>
            <a:ext cx="48096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Diseño de producto e innovación social</a:t>
            </a:r>
            <a:endParaRPr lang="en-US" sz="1725"/>
          </a:p>
        </p:txBody>
      </p:sp>
      <p:sp>
        <p:nvSpPr>
          <p:cNvPr id="38" name="Text 35"/>
          <p:cNvSpPr/>
          <p:nvPr/>
        </p:nvSpPr>
        <p:spPr>
          <a:xfrm>
            <a:off x="17186672" y="8724900"/>
            <a:ext cx="1869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50"/>
          </a:p>
        </p:txBody>
      </p:sp>
      <p:sp>
        <p:nvSpPr>
          <p:cNvPr id="39" name="Shape 36"/>
          <p:cNvSpPr/>
          <p:nvPr/>
        </p:nvSpPr>
        <p:spPr>
          <a:xfrm>
            <a:off x="914400" y="9220200"/>
            <a:ext cx="16459200" cy="114300"/>
          </a:xfrm>
          <a:prstGeom prst="rect">
            <a:avLst/>
          </a:prstGeom>
          <a:solidFill>
            <a:srgbClr val="D2D8DA"/>
          </a:solidFill>
          <a:ln/>
        </p:spPr>
      </p:sp>
      <p:sp>
        <p:nvSpPr>
          <p:cNvPr id="40" name="Shape 37"/>
          <p:cNvSpPr/>
          <p:nvPr/>
        </p:nvSpPr>
        <p:spPr>
          <a:xfrm>
            <a:off x="914400" y="9220200"/>
            <a:ext cx="1645920" cy="114300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138" name="Text 135"/>
          <p:cNvSpPr/>
          <p:nvPr/>
        </p:nvSpPr>
        <p:spPr>
          <a:xfrm>
            <a:off x="16507718" y="9591675"/>
            <a:ext cx="9420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/ 19</a:t>
            </a:r>
          </a:p>
        </p:txBody>
      </p:sp>
      <p:pic>
        <p:nvPicPr>
          <p:cNvPr id="140" name="Image 0" descr="preencoded.png">
            <a:extLst>
              <a:ext uri="{FF2B5EF4-FFF2-40B4-BE49-F238E27FC236}">
                <a16:creationId xmlns:a16="http://schemas.microsoft.com/office/drawing/2014/main" id="{36AE0809-1C7D-38CC-FE21-FBFC2A0BA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142" name="Imagen 35">
            <a:extLst>
              <a:ext uri="{FF2B5EF4-FFF2-40B4-BE49-F238E27FC236}">
                <a16:creationId xmlns:a16="http://schemas.microsoft.com/office/drawing/2014/main" id="{8854F65D-2BC4-0BA2-3AF6-AC355B123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sp>
        <p:nvSpPr>
          <p:cNvPr id="4" name="Text 1"/>
          <p:cNvSpPr/>
          <p:nvPr/>
        </p:nvSpPr>
        <p:spPr>
          <a:xfrm>
            <a:off x="914400" y="1428750"/>
            <a:ext cx="181051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6667"/>
              </a:lnSpc>
              <a:buNone/>
            </a:pPr>
            <a:r>
              <a:rPr lang="en-US" sz="5400" b="1" kern="0" spc="-108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ruta de acompañamiento</a:t>
            </a:r>
          </a:p>
        </p:txBody>
      </p:sp>
      <p:sp>
        <p:nvSpPr>
          <p:cNvPr id="5" name="Text 2"/>
          <p:cNvSpPr/>
          <p:nvPr/>
        </p:nvSpPr>
        <p:spPr>
          <a:xfrm>
            <a:off x="914400" y="2247900"/>
            <a:ext cx="181051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etapas · 32 semanas · del arranque y línea base al impacto</a:t>
            </a:r>
            <a:endParaRPr lang="en-US" sz="1950"/>
          </a:p>
        </p:txBody>
      </p:sp>
      <p:sp>
        <p:nvSpPr>
          <p:cNvPr id="6" name="Shape 3"/>
          <p:cNvSpPr/>
          <p:nvPr/>
        </p:nvSpPr>
        <p:spPr>
          <a:xfrm>
            <a:off x="914400" y="3267075"/>
            <a:ext cx="16459200" cy="19050"/>
          </a:xfrm>
          <a:prstGeom prst="rect">
            <a:avLst/>
          </a:prstGeom>
          <a:solidFill>
            <a:srgbClr val="40C0C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57500"/>
            <a:ext cx="5029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ETAPA</a:t>
            </a:r>
            <a:endParaRPr lang="en-US" sz="1650"/>
          </a:p>
        </p:txBody>
      </p:sp>
      <p:sp>
        <p:nvSpPr>
          <p:cNvPr id="8" name="Text 5"/>
          <p:cNvSpPr/>
          <p:nvPr/>
        </p:nvSpPr>
        <p:spPr>
          <a:xfrm>
            <a:off x="5791200" y="2857500"/>
            <a:ext cx="22408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SEMANAS · HITO</a:t>
            </a:r>
            <a:endParaRPr lang="en-US" sz="1650"/>
          </a:p>
        </p:txBody>
      </p:sp>
      <p:sp>
        <p:nvSpPr>
          <p:cNvPr id="9" name="Text 6"/>
          <p:cNvSpPr/>
          <p:nvPr/>
        </p:nvSpPr>
        <p:spPr>
          <a:xfrm>
            <a:off x="13957846" y="2857500"/>
            <a:ext cx="22695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S1 ─────── S32</a:t>
            </a:r>
            <a:endParaRPr lang="en-US" sz="1650"/>
          </a:p>
        </p:txBody>
      </p:sp>
      <p:sp>
        <p:nvSpPr>
          <p:cNvPr id="10" name="Text 7"/>
          <p:cNvSpPr/>
          <p:nvPr/>
        </p:nvSpPr>
        <p:spPr>
          <a:xfrm>
            <a:off x="16249650" y="2857500"/>
            <a:ext cx="1123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98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HORAS</a:t>
            </a:r>
            <a:endParaRPr lang="en-US" sz="1650"/>
          </a:p>
        </p:txBody>
      </p:sp>
      <p:sp>
        <p:nvSpPr>
          <p:cNvPr id="11" name="Shape 8"/>
          <p:cNvSpPr/>
          <p:nvPr/>
        </p:nvSpPr>
        <p:spPr>
          <a:xfrm>
            <a:off x="914400" y="4352925"/>
            <a:ext cx="16459200" cy="9525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497610"/>
            <a:ext cx="3717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E0</a:t>
            </a:r>
            <a:endParaRPr lang="en-US" sz="1950"/>
          </a:p>
        </p:txBody>
      </p:sp>
      <p:sp>
        <p:nvSpPr>
          <p:cNvPr id="13" name="Text 10"/>
          <p:cNvSpPr/>
          <p:nvPr/>
        </p:nvSpPr>
        <p:spPr>
          <a:xfrm>
            <a:off x="1381423" y="3554760"/>
            <a:ext cx="2811408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57"/>
              </a:lnSpc>
              <a:buNone/>
            </a:pPr>
            <a:r>
              <a:rPr lang="en-US" sz="18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Arranque y línea base</a:t>
            </a:r>
            <a:endParaRPr lang="en-US" sz="1800"/>
          </a:p>
        </p:txBody>
      </p:sp>
      <p:sp>
        <p:nvSpPr>
          <p:cNvPr id="14" name="Text 11"/>
          <p:cNvSpPr/>
          <p:nvPr/>
        </p:nvSpPr>
        <p:spPr>
          <a:xfrm>
            <a:off x="1381423" y="3855690"/>
            <a:ext cx="28114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(aprox. octubre de 2026)</a:t>
            </a:r>
            <a:endParaRPr lang="en-US" sz="1500"/>
          </a:p>
        </p:txBody>
      </p:sp>
      <p:sp>
        <p:nvSpPr>
          <p:cNvPr id="15" name="Shape 12"/>
          <p:cNvSpPr/>
          <p:nvPr/>
        </p:nvSpPr>
        <p:spPr>
          <a:xfrm>
            <a:off x="5791200" y="3583781"/>
            <a:ext cx="10229850" cy="133350"/>
          </a:xfrm>
          <a:prstGeom prst="roundRect">
            <a:avLst>
              <a:gd name="adj" fmla="val 50000"/>
            </a:avLst>
          </a:prstGeom>
          <a:solidFill>
            <a:srgbClr val="DDECEC"/>
          </a:solidFill>
          <a:ln/>
        </p:spPr>
      </p:sp>
      <p:sp>
        <p:nvSpPr>
          <p:cNvPr id="16" name="Shape 13"/>
          <p:cNvSpPr/>
          <p:nvPr/>
        </p:nvSpPr>
        <p:spPr>
          <a:xfrm>
            <a:off x="5791200" y="3583781"/>
            <a:ext cx="1278731" cy="133350"/>
          </a:xfrm>
          <a:prstGeom prst="roundRect">
            <a:avLst>
              <a:gd name="adj" fmla="val 50000"/>
            </a:avLst>
          </a:prstGeom>
          <a:solidFill>
            <a:srgbClr val="40C0C0"/>
          </a:solidFill>
          <a:ln/>
        </p:spPr>
      </p:sp>
      <p:sp>
        <p:nvSpPr>
          <p:cNvPr id="17" name="Text 14"/>
          <p:cNvSpPr/>
          <p:nvPr/>
        </p:nvSpPr>
        <p:spPr>
          <a:xfrm>
            <a:off x="5791200" y="3793331"/>
            <a:ext cx="112528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6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Sem. 1–4 · 4 semanas · </a:t>
            </a:r>
            <a:r>
              <a:rPr lang="en-US" sz="16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Línea base + KPIs + plan individual + hitos técnico-comerciales</a:t>
            </a:r>
            <a:endParaRPr lang="en-US" sz="1650"/>
          </a:p>
        </p:txBody>
      </p:sp>
      <p:sp>
        <p:nvSpPr>
          <p:cNvPr id="18" name="Text 15"/>
          <p:cNvSpPr/>
          <p:nvPr/>
        </p:nvSpPr>
        <p:spPr>
          <a:xfrm>
            <a:off x="16249650" y="3533775"/>
            <a:ext cx="1123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h</a:t>
            </a:r>
            <a:endParaRPr lang="en-US" sz="3000"/>
          </a:p>
        </p:txBody>
      </p:sp>
      <p:sp>
        <p:nvSpPr>
          <p:cNvPr id="19" name="Shape 16"/>
          <p:cNvSpPr/>
          <p:nvPr/>
        </p:nvSpPr>
        <p:spPr>
          <a:xfrm>
            <a:off x="914400" y="5429250"/>
            <a:ext cx="16459200" cy="9525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4573935"/>
            <a:ext cx="3033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E1</a:t>
            </a:r>
            <a:endParaRPr lang="en-US" sz="1950"/>
          </a:p>
        </p:txBody>
      </p:sp>
      <p:sp>
        <p:nvSpPr>
          <p:cNvPr id="21" name="Text 18"/>
          <p:cNvSpPr/>
          <p:nvPr/>
        </p:nvSpPr>
        <p:spPr>
          <a:xfrm>
            <a:off x="1312962" y="4631085"/>
            <a:ext cx="4257958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57"/>
              </a:lnSpc>
              <a:buNone/>
            </a:pPr>
            <a:r>
              <a:rPr lang="en-US" sz="18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Validación problema y cliente</a:t>
            </a:r>
            <a:endParaRPr lang="en-US" sz="1800"/>
          </a:p>
        </p:txBody>
      </p:sp>
      <p:sp>
        <p:nvSpPr>
          <p:cNvPr id="22" name="Text 19"/>
          <p:cNvSpPr/>
          <p:nvPr/>
        </p:nvSpPr>
        <p:spPr>
          <a:xfrm>
            <a:off x="1312962" y="4932015"/>
            <a:ext cx="42579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(aprox. noviembre y diciembre de 2026)</a:t>
            </a:r>
            <a:endParaRPr lang="en-US" sz="1500"/>
          </a:p>
        </p:txBody>
      </p:sp>
      <p:sp>
        <p:nvSpPr>
          <p:cNvPr id="23" name="Shape 20"/>
          <p:cNvSpPr/>
          <p:nvPr/>
        </p:nvSpPr>
        <p:spPr>
          <a:xfrm>
            <a:off x="5791200" y="4529138"/>
            <a:ext cx="10229850" cy="133350"/>
          </a:xfrm>
          <a:prstGeom prst="roundRect">
            <a:avLst>
              <a:gd name="adj" fmla="val 50000"/>
            </a:avLst>
          </a:prstGeom>
          <a:solidFill>
            <a:srgbClr val="DDECEC"/>
          </a:solidFill>
          <a:ln/>
        </p:spPr>
      </p:sp>
      <p:sp>
        <p:nvSpPr>
          <p:cNvPr id="24" name="Shape 21"/>
          <p:cNvSpPr/>
          <p:nvPr/>
        </p:nvSpPr>
        <p:spPr>
          <a:xfrm>
            <a:off x="7069931" y="4529138"/>
            <a:ext cx="1918097" cy="133350"/>
          </a:xfrm>
          <a:prstGeom prst="roundRect">
            <a:avLst>
              <a:gd name="adj" fmla="val 50000"/>
            </a:avLst>
          </a:prstGeom>
          <a:solidFill>
            <a:srgbClr val="40C0C0"/>
          </a:solidFill>
          <a:ln/>
        </p:spPr>
      </p:sp>
      <p:sp>
        <p:nvSpPr>
          <p:cNvPr id="25" name="Text 22"/>
          <p:cNvSpPr/>
          <p:nvPr/>
        </p:nvSpPr>
        <p:spPr>
          <a:xfrm>
            <a:off x="5791200" y="4738688"/>
            <a:ext cx="1053674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6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Sem. 5–10 · 6 semanas · </a:t>
            </a:r>
            <a:r>
              <a:rPr lang="en-US" sz="16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a 50 validaciones en campo de problema, cliente/JTBD e ICP priorizados</a:t>
            </a:r>
            <a:endParaRPr lang="en-US" sz="1650"/>
          </a:p>
        </p:txBody>
      </p:sp>
      <p:sp>
        <p:nvSpPr>
          <p:cNvPr id="26" name="Text 23"/>
          <p:cNvSpPr/>
          <p:nvPr/>
        </p:nvSpPr>
        <p:spPr>
          <a:xfrm>
            <a:off x="16249650" y="4610100"/>
            <a:ext cx="1123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h</a:t>
            </a:r>
            <a:endParaRPr lang="en-US" sz="3000"/>
          </a:p>
        </p:txBody>
      </p:sp>
      <p:sp>
        <p:nvSpPr>
          <p:cNvPr id="27" name="Shape 24"/>
          <p:cNvSpPr/>
          <p:nvPr/>
        </p:nvSpPr>
        <p:spPr>
          <a:xfrm>
            <a:off x="914400" y="6505575"/>
            <a:ext cx="16459200" cy="9525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28" name="Text 25"/>
          <p:cNvSpPr/>
          <p:nvPr/>
        </p:nvSpPr>
        <p:spPr>
          <a:xfrm>
            <a:off x="914400" y="5518845"/>
            <a:ext cx="35168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E2</a:t>
            </a:r>
            <a:endParaRPr lang="en-US" sz="1950"/>
          </a:p>
        </p:txBody>
      </p:sp>
      <p:sp>
        <p:nvSpPr>
          <p:cNvPr id="29" name="Text 26"/>
          <p:cNvSpPr/>
          <p:nvPr/>
        </p:nvSpPr>
        <p:spPr>
          <a:xfrm>
            <a:off x="1361331" y="5575995"/>
            <a:ext cx="4248821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57"/>
              </a:lnSpc>
              <a:buNone/>
            </a:pPr>
            <a:r>
              <a:rPr lang="en-US" sz="18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Validación propuesta de valor y oportunidad comercial</a:t>
            </a:r>
            <a:endParaRPr lang="en-US" sz="1800"/>
          </a:p>
        </p:txBody>
      </p:sp>
      <p:sp>
        <p:nvSpPr>
          <p:cNvPr id="30" name="Text 27"/>
          <p:cNvSpPr/>
          <p:nvPr/>
        </p:nvSpPr>
        <p:spPr>
          <a:xfrm>
            <a:off x="1361331" y="6139755"/>
            <a:ext cx="45375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(aprox. enero y febrero de 2027)</a:t>
            </a:r>
            <a:endParaRPr lang="en-US" sz="1500"/>
          </a:p>
        </p:txBody>
      </p:sp>
      <p:sp>
        <p:nvSpPr>
          <p:cNvPr id="31" name="Shape 28"/>
          <p:cNvSpPr/>
          <p:nvPr/>
        </p:nvSpPr>
        <p:spPr>
          <a:xfrm>
            <a:off x="5791200" y="5605463"/>
            <a:ext cx="10229850" cy="133350"/>
          </a:xfrm>
          <a:prstGeom prst="roundRect">
            <a:avLst>
              <a:gd name="adj" fmla="val 50000"/>
            </a:avLst>
          </a:prstGeom>
          <a:solidFill>
            <a:srgbClr val="DDECEC"/>
          </a:solidFill>
          <a:ln/>
        </p:spPr>
      </p:sp>
      <p:sp>
        <p:nvSpPr>
          <p:cNvPr id="32" name="Shape 29"/>
          <p:cNvSpPr/>
          <p:nvPr/>
        </p:nvSpPr>
        <p:spPr>
          <a:xfrm>
            <a:off x="8988028" y="5605463"/>
            <a:ext cx="1918097" cy="133350"/>
          </a:xfrm>
          <a:prstGeom prst="roundRect">
            <a:avLst>
              <a:gd name="adj" fmla="val 50000"/>
            </a:avLst>
          </a:prstGeom>
          <a:solidFill>
            <a:srgbClr val="40C0C0"/>
          </a:solidFill>
          <a:ln/>
        </p:spPr>
      </p:sp>
      <p:sp>
        <p:nvSpPr>
          <p:cNvPr id="33" name="Shape 30"/>
          <p:cNvSpPr/>
          <p:nvPr/>
        </p:nvSpPr>
        <p:spPr>
          <a:xfrm>
            <a:off x="10752534" y="5538788"/>
            <a:ext cx="266700" cy="266700"/>
          </a:xfrm>
          <a:prstGeom prst="ellipse">
            <a:avLst/>
          </a:prstGeom>
          <a:solidFill>
            <a:srgbClr val="FFC62F"/>
          </a:solidFill>
          <a:ln w="38100">
            <a:solidFill>
              <a:srgbClr val="EAED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91200" y="5815013"/>
            <a:ext cx="1053674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6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Sem. 11–16 · 6 semanas · </a:t>
            </a:r>
            <a:r>
              <a:rPr lang="en-US" sz="16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Cliente/segmento priorizado + propuesta de valor revisada · </a:t>
            </a:r>
            <a:r>
              <a:rPr lang="en-US" sz="165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Seguimiento técnico 1</a:t>
            </a:r>
            <a:endParaRPr lang="en-US" sz="1650"/>
          </a:p>
        </p:txBody>
      </p:sp>
      <p:sp>
        <p:nvSpPr>
          <p:cNvPr id="35" name="Text 32"/>
          <p:cNvSpPr/>
          <p:nvPr/>
        </p:nvSpPr>
        <p:spPr>
          <a:xfrm>
            <a:off x="16249650" y="5686425"/>
            <a:ext cx="1123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h</a:t>
            </a:r>
            <a:endParaRPr lang="en-US" sz="3000"/>
          </a:p>
        </p:txBody>
      </p:sp>
      <p:sp>
        <p:nvSpPr>
          <p:cNvPr id="36" name="Shape 33"/>
          <p:cNvSpPr/>
          <p:nvPr/>
        </p:nvSpPr>
        <p:spPr>
          <a:xfrm>
            <a:off x="914400" y="7581900"/>
            <a:ext cx="16459200" cy="9525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37" name="Text 34"/>
          <p:cNvSpPr/>
          <p:nvPr/>
        </p:nvSpPr>
        <p:spPr>
          <a:xfrm>
            <a:off x="914400" y="6595170"/>
            <a:ext cx="3600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E3</a:t>
            </a:r>
            <a:endParaRPr lang="en-US" sz="1950"/>
          </a:p>
        </p:txBody>
      </p:sp>
      <p:sp>
        <p:nvSpPr>
          <p:cNvPr id="38" name="Text 35"/>
          <p:cNvSpPr/>
          <p:nvPr/>
        </p:nvSpPr>
        <p:spPr>
          <a:xfrm>
            <a:off x="1369665" y="6652320"/>
            <a:ext cx="4240237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57"/>
              </a:lnSpc>
              <a:buNone/>
            </a:pPr>
            <a:r>
              <a:rPr lang="en-US" sz="18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 de negocio y experimentación</a:t>
            </a:r>
            <a:endParaRPr lang="en-US" sz="1800"/>
          </a:p>
        </p:txBody>
      </p:sp>
      <p:sp>
        <p:nvSpPr>
          <p:cNvPr id="39" name="Text 36"/>
          <p:cNvSpPr/>
          <p:nvPr/>
        </p:nvSpPr>
        <p:spPr>
          <a:xfrm>
            <a:off x="1369665" y="7216080"/>
            <a:ext cx="45284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(aprox. marzo y abril de 2027)</a:t>
            </a:r>
            <a:endParaRPr lang="en-US" sz="1500"/>
          </a:p>
        </p:txBody>
      </p:sp>
      <p:sp>
        <p:nvSpPr>
          <p:cNvPr id="40" name="Shape 37"/>
          <p:cNvSpPr/>
          <p:nvPr/>
        </p:nvSpPr>
        <p:spPr>
          <a:xfrm>
            <a:off x="5791200" y="6681788"/>
            <a:ext cx="10229850" cy="133350"/>
          </a:xfrm>
          <a:prstGeom prst="roundRect">
            <a:avLst>
              <a:gd name="adj" fmla="val 50000"/>
            </a:avLst>
          </a:prstGeom>
          <a:solidFill>
            <a:srgbClr val="DDECEC"/>
          </a:solidFill>
          <a:ln/>
        </p:spPr>
      </p:sp>
      <p:sp>
        <p:nvSpPr>
          <p:cNvPr id="41" name="Shape 38"/>
          <p:cNvSpPr/>
          <p:nvPr/>
        </p:nvSpPr>
        <p:spPr>
          <a:xfrm>
            <a:off x="10906125" y="6681788"/>
            <a:ext cx="1918097" cy="133350"/>
          </a:xfrm>
          <a:prstGeom prst="roundRect">
            <a:avLst>
              <a:gd name="adj" fmla="val 50000"/>
            </a:avLst>
          </a:prstGeom>
          <a:solidFill>
            <a:srgbClr val="40C0C0"/>
          </a:solidFill>
          <a:ln/>
        </p:spPr>
      </p:sp>
      <p:sp>
        <p:nvSpPr>
          <p:cNvPr id="42" name="Text 39"/>
          <p:cNvSpPr/>
          <p:nvPr/>
        </p:nvSpPr>
        <p:spPr>
          <a:xfrm>
            <a:off x="5791200" y="6891338"/>
            <a:ext cx="1053674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6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Sem. 17–22 · 6 semanas · </a:t>
            </a:r>
            <a:r>
              <a:rPr lang="en-US" sz="16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 de negocio definido + base financiera estructurada + aspectos legales priorizados</a:t>
            </a:r>
            <a:endParaRPr lang="en-US" sz="1650"/>
          </a:p>
        </p:txBody>
      </p:sp>
      <p:sp>
        <p:nvSpPr>
          <p:cNvPr id="43" name="Text 40"/>
          <p:cNvSpPr/>
          <p:nvPr/>
        </p:nvSpPr>
        <p:spPr>
          <a:xfrm>
            <a:off x="16249650" y="6762750"/>
            <a:ext cx="1123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h</a:t>
            </a:r>
            <a:endParaRPr lang="en-US" sz="3000"/>
          </a:p>
        </p:txBody>
      </p:sp>
      <p:sp>
        <p:nvSpPr>
          <p:cNvPr id="44" name="Shape 41"/>
          <p:cNvSpPr/>
          <p:nvPr/>
        </p:nvSpPr>
        <p:spPr>
          <a:xfrm>
            <a:off x="914400" y="8658225"/>
            <a:ext cx="16459200" cy="9525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45" name="Text 42"/>
          <p:cNvSpPr/>
          <p:nvPr/>
        </p:nvSpPr>
        <p:spPr>
          <a:xfrm>
            <a:off x="914400" y="7671495"/>
            <a:ext cx="3778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E4</a:t>
            </a:r>
            <a:endParaRPr lang="en-US" sz="1950"/>
          </a:p>
        </p:txBody>
      </p:sp>
      <p:sp>
        <p:nvSpPr>
          <p:cNvPr id="46" name="Text 43"/>
          <p:cNvSpPr/>
          <p:nvPr/>
        </p:nvSpPr>
        <p:spPr>
          <a:xfrm>
            <a:off x="1387525" y="7728645"/>
            <a:ext cx="4221842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57"/>
              </a:lnSpc>
              <a:buNone/>
            </a:pPr>
            <a:r>
              <a:rPr lang="en-US" sz="18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GTM temprano, growth y lógica económica</a:t>
            </a:r>
            <a:endParaRPr lang="en-US" sz="1800"/>
          </a:p>
        </p:txBody>
      </p:sp>
      <p:sp>
        <p:nvSpPr>
          <p:cNvPr id="47" name="Text 44"/>
          <p:cNvSpPr/>
          <p:nvPr/>
        </p:nvSpPr>
        <p:spPr>
          <a:xfrm>
            <a:off x="1387525" y="8292405"/>
            <a:ext cx="45087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(aprox. mayo y junio de 2027)</a:t>
            </a:r>
            <a:endParaRPr lang="en-US" sz="1500"/>
          </a:p>
        </p:txBody>
      </p:sp>
      <p:sp>
        <p:nvSpPr>
          <p:cNvPr id="48" name="Shape 45"/>
          <p:cNvSpPr/>
          <p:nvPr/>
        </p:nvSpPr>
        <p:spPr>
          <a:xfrm>
            <a:off x="5791200" y="7889081"/>
            <a:ext cx="10229850" cy="133350"/>
          </a:xfrm>
          <a:prstGeom prst="roundRect">
            <a:avLst>
              <a:gd name="adj" fmla="val 50000"/>
            </a:avLst>
          </a:prstGeom>
          <a:solidFill>
            <a:srgbClr val="DDECEC"/>
          </a:solidFill>
          <a:ln/>
        </p:spPr>
      </p:sp>
      <p:sp>
        <p:nvSpPr>
          <p:cNvPr id="49" name="Shape 46"/>
          <p:cNvSpPr/>
          <p:nvPr/>
        </p:nvSpPr>
        <p:spPr>
          <a:xfrm>
            <a:off x="12504986" y="7889081"/>
            <a:ext cx="1918097" cy="133350"/>
          </a:xfrm>
          <a:prstGeom prst="roundRect">
            <a:avLst>
              <a:gd name="adj" fmla="val 50000"/>
            </a:avLst>
          </a:prstGeom>
          <a:solidFill>
            <a:srgbClr val="40C0C0"/>
          </a:solidFill>
          <a:ln/>
        </p:spPr>
      </p:sp>
      <p:sp>
        <p:nvSpPr>
          <p:cNvPr id="50" name="Text 47"/>
          <p:cNvSpPr/>
          <p:nvPr/>
        </p:nvSpPr>
        <p:spPr>
          <a:xfrm>
            <a:off x="5791200" y="8098631"/>
            <a:ext cx="112528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6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Sem. 22–27 · 6 semanas · </a:t>
            </a:r>
            <a:r>
              <a:rPr lang="en-US" sz="16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PMV fortalecido + estrategia inicial de salida + criterios de tracción</a:t>
            </a:r>
            <a:endParaRPr lang="en-US" sz="1650"/>
          </a:p>
        </p:txBody>
      </p:sp>
      <p:sp>
        <p:nvSpPr>
          <p:cNvPr id="51" name="Text 48"/>
          <p:cNvSpPr/>
          <p:nvPr/>
        </p:nvSpPr>
        <p:spPr>
          <a:xfrm>
            <a:off x="16249650" y="7839075"/>
            <a:ext cx="1123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h</a:t>
            </a:r>
            <a:endParaRPr lang="en-US" sz="3000"/>
          </a:p>
        </p:txBody>
      </p:sp>
      <p:sp>
        <p:nvSpPr>
          <p:cNvPr id="52" name="Text 49"/>
          <p:cNvSpPr/>
          <p:nvPr/>
        </p:nvSpPr>
        <p:spPr>
          <a:xfrm>
            <a:off x="914400" y="8879235"/>
            <a:ext cx="37117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E5</a:t>
            </a:r>
            <a:endParaRPr lang="en-US" sz="1950"/>
          </a:p>
        </p:txBody>
      </p:sp>
      <p:sp>
        <p:nvSpPr>
          <p:cNvPr id="53" name="Text 50"/>
          <p:cNvSpPr/>
          <p:nvPr/>
        </p:nvSpPr>
        <p:spPr>
          <a:xfrm>
            <a:off x="1380827" y="8936385"/>
            <a:ext cx="3195965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57"/>
              </a:lnSpc>
              <a:buNone/>
            </a:pPr>
            <a:r>
              <a:rPr lang="en-US" sz="18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Impacto</a:t>
            </a:r>
            <a:endParaRPr lang="en-US" sz="1800"/>
          </a:p>
        </p:txBody>
      </p:sp>
      <p:sp>
        <p:nvSpPr>
          <p:cNvPr id="54" name="Text 51"/>
          <p:cNvSpPr/>
          <p:nvPr/>
        </p:nvSpPr>
        <p:spPr>
          <a:xfrm>
            <a:off x="1380827" y="9237315"/>
            <a:ext cx="31959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(aprox. julio y agosto de 2027)</a:t>
            </a:r>
            <a:endParaRPr lang="en-US" sz="1500"/>
          </a:p>
        </p:txBody>
      </p:sp>
      <p:sp>
        <p:nvSpPr>
          <p:cNvPr id="55" name="Shape 52"/>
          <p:cNvSpPr/>
          <p:nvPr/>
        </p:nvSpPr>
        <p:spPr>
          <a:xfrm>
            <a:off x="5791200" y="8834438"/>
            <a:ext cx="10229850" cy="133350"/>
          </a:xfrm>
          <a:prstGeom prst="roundRect">
            <a:avLst>
              <a:gd name="adj" fmla="val 50000"/>
            </a:avLst>
          </a:prstGeom>
          <a:solidFill>
            <a:srgbClr val="DDECEC"/>
          </a:solidFill>
          <a:ln/>
        </p:spPr>
      </p:sp>
      <p:sp>
        <p:nvSpPr>
          <p:cNvPr id="56" name="Shape 53"/>
          <p:cNvSpPr/>
          <p:nvPr/>
        </p:nvSpPr>
        <p:spPr>
          <a:xfrm>
            <a:off x="14102953" y="8834438"/>
            <a:ext cx="1918097" cy="133350"/>
          </a:xfrm>
          <a:prstGeom prst="roundRect">
            <a:avLst>
              <a:gd name="adj" fmla="val 50000"/>
            </a:avLst>
          </a:prstGeom>
          <a:solidFill>
            <a:srgbClr val="3BAC53"/>
          </a:solidFill>
          <a:ln/>
        </p:spPr>
      </p:sp>
      <p:sp>
        <p:nvSpPr>
          <p:cNvPr id="57" name="Shape 54"/>
          <p:cNvSpPr/>
          <p:nvPr/>
        </p:nvSpPr>
        <p:spPr>
          <a:xfrm>
            <a:off x="15867459" y="8767763"/>
            <a:ext cx="266700" cy="266700"/>
          </a:xfrm>
          <a:prstGeom prst="ellipse">
            <a:avLst/>
          </a:prstGeom>
          <a:solidFill>
            <a:srgbClr val="FFC62F"/>
          </a:solidFill>
          <a:ln w="38100">
            <a:solidFill>
              <a:srgbClr val="EAEDE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791200" y="9043988"/>
            <a:ext cx="1053674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6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Sem. 27–32 · 6 semanas · </a:t>
            </a:r>
            <a:r>
              <a:rPr lang="en-US" sz="16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Sostenibilidad + narrativa de impacto + plan de trabajo a 6 meses · </a:t>
            </a:r>
            <a:r>
              <a:rPr lang="en-US" sz="165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Seguimiento técnico 2</a:t>
            </a:r>
            <a:endParaRPr lang="en-US" sz="1650"/>
          </a:p>
        </p:txBody>
      </p:sp>
      <p:sp>
        <p:nvSpPr>
          <p:cNvPr id="59" name="Text 56"/>
          <p:cNvSpPr/>
          <p:nvPr/>
        </p:nvSpPr>
        <p:spPr>
          <a:xfrm>
            <a:off x="16249650" y="8915400"/>
            <a:ext cx="1123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h</a:t>
            </a:r>
            <a:endParaRPr lang="en-US" sz="3000"/>
          </a:p>
        </p:txBody>
      </p:sp>
      <p:sp>
        <p:nvSpPr>
          <p:cNvPr id="60" name="Text 57"/>
          <p:cNvSpPr/>
          <p:nvPr/>
        </p:nvSpPr>
        <p:spPr>
          <a:xfrm>
            <a:off x="16572458" y="9667875"/>
            <a:ext cx="8773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/ 19</a:t>
            </a:r>
          </a:p>
        </p:txBody>
      </p:sp>
      <p:pic>
        <p:nvPicPr>
          <p:cNvPr id="63" name="Image 0" descr="preencoded.png">
            <a:extLst>
              <a:ext uri="{FF2B5EF4-FFF2-40B4-BE49-F238E27FC236}">
                <a16:creationId xmlns:a16="http://schemas.microsoft.com/office/drawing/2014/main" id="{0CDAEF76-459D-C25E-A776-F9DB06C1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65" name="Imagen 35">
            <a:extLst>
              <a:ext uri="{FF2B5EF4-FFF2-40B4-BE49-F238E27FC236}">
                <a16:creationId xmlns:a16="http://schemas.microsoft.com/office/drawing/2014/main" id="{4305C05C-B555-08FD-31B2-B03B4840E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9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14400" y="1619250"/>
            <a:ext cx="130194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12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 DEL MENTOR</a:t>
            </a:r>
          </a:p>
        </p:txBody>
      </p:sp>
      <p:sp>
        <p:nvSpPr>
          <p:cNvPr id="5" name="Text 2"/>
          <p:cNvSpPr/>
          <p:nvPr/>
        </p:nvSpPr>
        <p:spPr>
          <a:xfrm>
            <a:off x="914400" y="2105025"/>
            <a:ext cx="1219093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6667"/>
              </a:lnSpc>
              <a:buNone/>
            </a:pPr>
            <a:r>
              <a:rPr lang="en-US" sz="6000" b="1" kern="0" spc="-12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rol del mentor</a:t>
            </a:r>
          </a:p>
        </p:txBody>
      </p:sp>
      <p:sp>
        <p:nvSpPr>
          <p:cNvPr id="6" name="Text 3"/>
          <p:cNvSpPr/>
          <p:nvPr/>
        </p:nvSpPr>
        <p:spPr>
          <a:xfrm>
            <a:off x="12487673" y="2859816"/>
            <a:ext cx="4978290" cy="853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cada etapa de la ruta.</a:t>
            </a:r>
          </a:p>
        </p:txBody>
      </p:sp>
      <p:sp>
        <p:nvSpPr>
          <p:cNvPr id="7" name="Shape 4"/>
          <p:cNvSpPr/>
          <p:nvPr/>
        </p:nvSpPr>
        <p:spPr>
          <a:xfrm>
            <a:off x="914400" y="4095750"/>
            <a:ext cx="5308550" cy="3810000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8" name="Text 5"/>
          <p:cNvSpPr/>
          <p:nvPr/>
        </p:nvSpPr>
        <p:spPr>
          <a:xfrm>
            <a:off x="1295400" y="4476750"/>
            <a:ext cx="50012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8FE0D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1295400" y="4953000"/>
            <a:ext cx="500120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24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ORIENTAR</a:t>
            </a:r>
          </a:p>
        </p:txBody>
      </p:sp>
      <p:sp>
        <p:nvSpPr>
          <p:cNvPr id="10" name="Text 7"/>
          <p:cNvSpPr/>
          <p:nvPr/>
        </p:nvSpPr>
        <p:spPr>
          <a:xfrm>
            <a:off x="1295400" y="5524500"/>
            <a:ext cx="4682947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1875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Ayudar al equipo a priorizar brechas y decisiones en cada etapa.</a:t>
            </a:r>
          </a:p>
        </p:txBody>
      </p:sp>
      <p:sp>
        <p:nvSpPr>
          <p:cNvPr id="11" name="Shape 8"/>
          <p:cNvSpPr/>
          <p:nvPr/>
        </p:nvSpPr>
        <p:spPr>
          <a:xfrm>
            <a:off x="6489650" y="4095750"/>
            <a:ext cx="5308550" cy="3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80175" y="4476750"/>
            <a:ext cx="4980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800"/>
          </a:p>
        </p:txBody>
      </p:sp>
      <p:sp>
        <p:nvSpPr>
          <p:cNvPr id="13" name="Text 10"/>
          <p:cNvSpPr/>
          <p:nvPr/>
        </p:nvSpPr>
        <p:spPr>
          <a:xfrm>
            <a:off x="6880175" y="4953000"/>
            <a:ext cx="498025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24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ACOMPAÑAR</a:t>
            </a:r>
          </a:p>
        </p:txBody>
      </p:sp>
      <p:sp>
        <p:nvSpPr>
          <p:cNvPr id="14" name="Text 11"/>
          <p:cNvSpPr/>
          <p:nvPr/>
        </p:nvSpPr>
        <p:spPr>
          <a:xfrm>
            <a:off x="6880175" y="5524500"/>
            <a:ext cx="4663325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1850">
                <a:solidFill>
                  <a:srgbClr val="4D5158"/>
                </a:solidFill>
                <a:latin typeface="Poppins"/>
                <a:ea typeface="Poppins" pitchFamily="34" charset="-122"/>
                <a:cs typeface="Poppins"/>
              </a:rPr>
              <a:t>2 sesiones por etapa, aproximadamente cada 15 días.</a:t>
            </a:r>
          </a:p>
        </p:txBody>
      </p:sp>
      <p:sp>
        <p:nvSpPr>
          <p:cNvPr id="15" name="Shape 12"/>
          <p:cNvSpPr/>
          <p:nvPr/>
        </p:nvSpPr>
        <p:spPr>
          <a:xfrm>
            <a:off x="12064901" y="4095750"/>
            <a:ext cx="5308550" cy="3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55426" y="4476750"/>
            <a:ext cx="4980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800"/>
          </a:p>
        </p:txBody>
      </p:sp>
      <p:sp>
        <p:nvSpPr>
          <p:cNvPr id="17" name="Text 14"/>
          <p:cNvSpPr/>
          <p:nvPr/>
        </p:nvSpPr>
        <p:spPr>
          <a:xfrm>
            <a:off x="12455426" y="4953000"/>
            <a:ext cx="498025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240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 SEGUIMIENTO</a:t>
            </a:r>
          </a:p>
        </p:txBody>
      </p:sp>
      <p:sp>
        <p:nvSpPr>
          <p:cNvPr id="18" name="Text 15"/>
          <p:cNvSpPr/>
          <p:nvPr/>
        </p:nvSpPr>
        <p:spPr>
          <a:xfrm>
            <a:off x="12455426" y="5524500"/>
            <a:ext cx="4663325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1875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Co-construir el plan de trabajo y participar en los hitos técnico-comerciales.</a:t>
            </a:r>
          </a:p>
        </p:txBody>
      </p:sp>
      <p:sp>
        <p:nvSpPr>
          <p:cNvPr id="34" name="Text 31"/>
          <p:cNvSpPr/>
          <p:nvPr/>
        </p:nvSpPr>
        <p:spPr>
          <a:xfrm>
            <a:off x="16580793" y="9591675"/>
            <a:ext cx="8690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/ 19</a:t>
            </a:r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A95E98CA-7D81-F25D-4E02-62DC62397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37" name="Imagen 35">
            <a:extLst>
              <a:ext uri="{FF2B5EF4-FFF2-40B4-BE49-F238E27FC236}">
                <a16:creationId xmlns:a16="http://schemas.microsoft.com/office/drawing/2014/main" id="{80DD1CD8-5E78-9436-4D84-F7546D06F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0" y="-2857500"/>
            <a:ext cx="7239000" cy="723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714500"/>
            <a:ext cx="181051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12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COHORTE I 2026</a:t>
            </a:r>
          </a:p>
        </p:txBody>
      </p:sp>
      <p:sp>
        <p:nvSpPr>
          <p:cNvPr id="6" name="Text 2"/>
          <p:cNvSpPr/>
          <p:nvPr/>
        </p:nvSpPr>
        <p:spPr>
          <a:xfrm>
            <a:off x="914400" y="2200275"/>
            <a:ext cx="181051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6667"/>
              </a:lnSpc>
              <a:buNone/>
            </a:pPr>
            <a:r>
              <a:rPr lang="en-US" sz="6900" b="1" kern="0" spc="-138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Asignación de mentores</a:t>
            </a:r>
          </a:p>
        </p:txBody>
      </p:sp>
      <p:sp>
        <p:nvSpPr>
          <p:cNvPr id="7" name="Text 3"/>
          <p:cNvSpPr/>
          <p:nvPr/>
        </p:nvSpPr>
        <p:spPr>
          <a:xfrm>
            <a:off x="914400" y="3267075"/>
            <a:ext cx="1373505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210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mentor acompaña las mentorías quincenales de sus iniciativas asignadas en las seis etapas de la ruta.</a:t>
            </a: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439" y="5143500"/>
            <a:ext cx="1619250" cy="16192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39438" y="6953250"/>
            <a:ext cx="19051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8947"/>
              </a:lnSpc>
              <a:buNone/>
            </a:pPr>
            <a:r>
              <a:rPr lang="en-US" sz="187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John Cardona</a:t>
            </a:r>
            <a:endParaRPr lang="en-US" sz="1875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368" y="5143500"/>
            <a:ext cx="1619250" cy="1619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587234" y="6953250"/>
            <a:ext cx="15775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8947"/>
              </a:lnSpc>
              <a:buNone/>
            </a:pPr>
            <a:r>
              <a:rPr lang="en-US" sz="187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 Loaiza</a:t>
            </a:r>
            <a:endParaRPr lang="en-US" sz="1875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297" y="5143500"/>
            <a:ext cx="1619250" cy="16192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649970" y="6953250"/>
            <a:ext cx="22197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8947"/>
              </a:lnSpc>
              <a:buNone/>
            </a:pPr>
            <a:r>
              <a:rPr lang="en-US" sz="187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Alejandro Espejo</a:t>
            </a:r>
            <a:endParaRPr lang="en-US" sz="1875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226" y="5143500"/>
            <a:ext cx="1619250" cy="16192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028087" y="6953250"/>
            <a:ext cx="22316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8947"/>
              </a:lnSpc>
              <a:buNone/>
            </a:pPr>
            <a:r>
              <a:rPr lang="en-US" sz="187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Camilo Salamanca</a:t>
            </a:r>
            <a:endParaRPr lang="en-US" sz="1875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304" y="5143500"/>
            <a:ext cx="1619250" cy="16192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466918" y="6953250"/>
            <a:ext cx="21220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8947"/>
              </a:lnSpc>
              <a:buNone/>
            </a:pPr>
            <a:r>
              <a:rPr lang="en-US" sz="187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Alejandra López</a:t>
            </a:r>
            <a:endParaRPr lang="en-US" sz="1875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02233" y="5143500"/>
            <a:ext cx="1619250" cy="16192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3077103" y="6953250"/>
            <a:ext cx="1669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8947"/>
              </a:lnSpc>
              <a:buNone/>
            </a:pPr>
            <a:r>
              <a:rPr lang="en-US" sz="187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Óscar Durán</a:t>
            </a:r>
            <a:endParaRPr lang="en-US" sz="1875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86162" y="5143500"/>
            <a:ext cx="1619250" cy="161925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5180022" y="6953250"/>
            <a:ext cx="22316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8947"/>
              </a:lnSpc>
              <a:buNone/>
            </a:pPr>
            <a:r>
              <a:rPr lang="en-US" sz="187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 Felipe Salcedo</a:t>
            </a:r>
            <a:endParaRPr lang="en-US" sz="1875"/>
          </a:p>
        </p:txBody>
      </p:sp>
      <p:sp>
        <p:nvSpPr>
          <p:cNvPr id="25" name="Text 14"/>
          <p:cNvSpPr/>
          <p:nvPr/>
        </p:nvSpPr>
        <p:spPr>
          <a:xfrm>
            <a:off x="16572012" y="9591675"/>
            <a:ext cx="8777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/ 19</a:t>
            </a: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AA12EB2E-6F63-A2EE-C5B1-1D33CF20BA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29" name="Imagen 35">
            <a:extLst>
              <a:ext uri="{FF2B5EF4-FFF2-40B4-BE49-F238E27FC236}">
                <a16:creationId xmlns:a16="http://schemas.microsoft.com/office/drawing/2014/main" id="{C6C12C19-DA09-D90B-339B-EFB328CC05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  <p:sp>
        <p:nvSpPr>
          <p:cNvPr id="3000" name="Conteo 1"/>
          <p:cNvSpPr txBox="1"/>
          <p:nvPr/>
        </p:nvSpPr>
        <p:spPr>
          <a:xfrm>
            <a:off x="847725" y="7658100"/>
            <a:ext cx="2286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s-CO" sz="165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iniciativas</a:t>
            </a:r>
          </a:p>
        </p:txBody>
      </p:sp>
      <p:sp>
        <p:nvSpPr>
          <p:cNvPr id="3001" name="Conteo 2"/>
          <p:cNvSpPr txBox="1"/>
          <p:nvPr/>
        </p:nvSpPr>
        <p:spPr>
          <a:xfrm>
            <a:off x="3228975" y="7658100"/>
            <a:ext cx="2286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s-CO" sz="165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iniciativas</a:t>
            </a:r>
          </a:p>
        </p:txBody>
      </p:sp>
      <p:sp>
        <p:nvSpPr>
          <p:cNvPr id="3002" name="Conteo 3"/>
          <p:cNvSpPr txBox="1"/>
          <p:nvPr/>
        </p:nvSpPr>
        <p:spPr>
          <a:xfrm>
            <a:off x="5619750" y="7658100"/>
            <a:ext cx="2286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s-CO" sz="165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iniciativas</a:t>
            </a:r>
          </a:p>
        </p:txBody>
      </p:sp>
      <p:sp>
        <p:nvSpPr>
          <p:cNvPr id="3003" name="Conteo 4"/>
          <p:cNvSpPr txBox="1"/>
          <p:nvPr/>
        </p:nvSpPr>
        <p:spPr>
          <a:xfrm>
            <a:off x="8001000" y="7658100"/>
            <a:ext cx="2286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s-CO" sz="165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iniciativas</a:t>
            </a:r>
          </a:p>
        </p:txBody>
      </p:sp>
      <p:sp>
        <p:nvSpPr>
          <p:cNvPr id="3004" name="Conteo 5"/>
          <p:cNvSpPr txBox="1"/>
          <p:nvPr/>
        </p:nvSpPr>
        <p:spPr>
          <a:xfrm>
            <a:off x="10382250" y="7658100"/>
            <a:ext cx="2286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s-CO" sz="165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iniciativas</a:t>
            </a:r>
          </a:p>
        </p:txBody>
      </p:sp>
      <p:sp>
        <p:nvSpPr>
          <p:cNvPr id="3005" name="Conteo 6"/>
          <p:cNvSpPr txBox="1"/>
          <p:nvPr/>
        </p:nvSpPr>
        <p:spPr>
          <a:xfrm>
            <a:off x="12773025" y="7658100"/>
            <a:ext cx="2286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s-CO" sz="165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confirmadas</a:t>
            </a:r>
          </a:p>
        </p:txBody>
      </p:sp>
      <p:sp>
        <p:nvSpPr>
          <p:cNvPr id="3006" name="Conteo 7"/>
          <p:cNvSpPr txBox="1"/>
          <p:nvPr/>
        </p:nvSpPr>
        <p:spPr>
          <a:xfrm>
            <a:off x="15154275" y="7658100"/>
            <a:ext cx="2286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s-CO" sz="165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iniciativas</a:t>
            </a:r>
          </a:p>
        </p:txBody>
      </p:sp>
    </p:spTree>
    <p:extLst>
      <p:ext uri="{BB962C8B-B14F-4D97-AF65-F5344CB8AC3E}">
        <p14:creationId xmlns:p14="http://schemas.microsoft.com/office/powerpoint/2010/main" val="288775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sp>
        <p:nvSpPr>
          <p:cNvPr id="25" name="Text 14"/>
          <p:cNvSpPr/>
          <p:nvPr/>
        </p:nvSpPr>
        <p:spPr>
          <a:xfrm>
            <a:off x="16572012" y="9591675"/>
            <a:ext cx="8777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/ 19</a:t>
            </a: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BE81FE71-1E74-4405-A679-C02FF0CF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29" name="Imagen 35">
            <a:extLst>
              <a:ext uri="{FF2B5EF4-FFF2-40B4-BE49-F238E27FC236}">
                <a16:creationId xmlns:a16="http://schemas.microsoft.com/office/drawing/2014/main" id="{3EA78ADA-012E-4993-9225-96753BEFA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  <p:sp>
        <p:nvSpPr>
          <p:cNvPr id="3007" name="Identificador"/>
          <p:cNvSpPr txBox="1"/>
          <p:nvPr/>
        </p:nvSpPr>
        <p:spPr>
          <a:xfrm>
            <a:off x="914400" y="1619250"/>
            <a:ext cx="4476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CO" sz="1500" b="1" spc="200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 SCIENCE2VENTURE · COHORTE I 2026</a:t>
            </a:r>
          </a:p>
        </p:txBody>
      </p:sp>
      <p:pic>
        <p:nvPicPr>
          <p:cNvPr id="3008" name="Foto men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95550"/>
            <a:ext cx="3238500" cy="3238500"/>
          </a:xfrm>
          <a:prstGeom prst="rect">
            <a:avLst/>
          </a:prstGeom>
        </p:spPr>
      </p:pic>
      <p:sp>
        <p:nvSpPr>
          <p:cNvPr id="3009" name="Nombre mentor"/>
          <p:cNvSpPr txBox="1"/>
          <p:nvPr/>
        </p:nvSpPr>
        <p:spPr>
          <a:xfrm>
            <a:off x="914400" y="6057900"/>
            <a:ext cx="4476750" cy="16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s-CO" sz="4000" b="1" spc="-40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JOHN CARDONA</a:t>
            </a:r>
          </a:p>
        </p:txBody>
      </p:sp>
      <p:sp>
        <p:nvSpPr>
          <p:cNvPr id="3010" name="Acento"/>
          <p:cNvSpPr/>
          <p:nvPr/>
        </p:nvSpPr>
        <p:spPr>
          <a:xfrm>
            <a:off x="914400" y="7867650"/>
            <a:ext cx="609600" cy="47625"/>
          </a:xfrm>
          <a:prstGeom prst="rect">
            <a:avLst/>
          </a:prstGeom>
          <a:solidFill>
            <a:srgbClr val="40C0C0"/>
          </a:solidFill>
          <a:ln>
            <a:noFill/>
          </a:ln>
        </p:spPr>
      </p:sp>
      <p:sp>
        <p:nvSpPr>
          <p:cNvPr id="3011" name="Número de iniciativas"/>
          <p:cNvSpPr txBox="1"/>
          <p:nvPr/>
        </p:nvSpPr>
        <p:spPr>
          <a:xfrm>
            <a:off x="914400" y="8058150"/>
            <a:ext cx="44767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60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r>
              <a:rPr lang="es-CO" sz="20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iniciativas asignadas</a:t>
            </a:r>
          </a:p>
        </p:txBody>
      </p:sp>
      <p:sp>
        <p:nvSpPr>
          <p:cNvPr id="5000" name="Card 1 1"/>
          <p:cNvSpPr/>
          <p:nvPr/>
        </p:nvSpPr>
        <p:spPr>
          <a:xfrm>
            <a:off x="5715000" y="15240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01" name="Card 1 1 número"/>
          <p:cNvSpPr txBox="1"/>
          <p:nvPr/>
        </p:nvSpPr>
        <p:spPr>
          <a:xfrm>
            <a:off x="6000750" y="16764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</a:p>
        </p:txBody>
      </p:sp>
      <p:sp>
        <p:nvSpPr>
          <p:cNvPr id="5002" name="Card 1 1 texto"/>
          <p:cNvSpPr txBox="1"/>
          <p:nvPr/>
        </p:nvSpPr>
        <p:spPr>
          <a:xfrm>
            <a:off x="6667500" y="16097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FLUXEO Energy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Integración tecnológica y operativa de la infraestructura de carga eléctrica: interoperabilidad entre cargadores, plataformas CMS y software de gestión, con monitoreo y facturación centralizados.</a:t>
            </a:r>
          </a:p>
        </p:txBody>
      </p:sp>
      <p:sp>
        <p:nvSpPr>
          <p:cNvPr id="5003" name="Card 1 2"/>
          <p:cNvSpPr/>
          <p:nvPr/>
        </p:nvSpPr>
        <p:spPr>
          <a:xfrm>
            <a:off x="5715000" y="31242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04" name="Card 1 2 número"/>
          <p:cNvSpPr txBox="1"/>
          <p:nvPr/>
        </p:nvSpPr>
        <p:spPr>
          <a:xfrm>
            <a:off x="6000750" y="32766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</a:p>
        </p:txBody>
      </p:sp>
      <p:sp>
        <p:nvSpPr>
          <p:cNvPr id="5005" name="Card 1 2 texto"/>
          <p:cNvSpPr txBox="1"/>
          <p:nvPr/>
        </p:nvSpPr>
        <p:spPr>
          <a:xfrm>
            <a:off x="6667500" y="32099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Munay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Captura, medición y gestión de CO₂ directamente en flotas de vehículos de combustión interna, con trazabilidad MRV y sin necesidad de sustituir los vehículos.</a:t>
            </a:r>
          </a:p>
        </p:txBody>
      </p:sp>
      <p:sp>
        <p:nvSpPr>
          <p:cNvPr id="5006" name="Card 1 3"/>
          <p:cNvSpPr/>
          <p:nvPr/>
        </p:nvSpPr>
        <p:spPr>
          <a:xfrm>
            <a:off x="5715000" y="47244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07" name="Card 1 3 número"/>
          <p:cNvSpPr txBox="1"/>
          <p:nvPr/>
        </p:nvSpPr>
        <p:spPr>
          <a:xfrm>
            <a:off x="6000750" y="48768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</a:p>
        </p:txBody>
      </p:sp>
      <p:sp>
        <p:nvSpPr>
          <p:cNvPr id="5008" name="Card 1 3 texto"/>
          <p:cNvSpPr txBox="1"/>
          <p:nvPr/>
        </p:nvSpPr>
        <p:spPr>
          <a:xfrm>
            <a:off x="6667500" y="48101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Animal&amp;Human Foods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Batido liofilizado con probióticos y frutas naturales para adultos mayores y personas en recuperación nutricional; conserva nutrientes y se almacena sin refrigeración.</a:t>
            </a:r>
          </a:p>
        </p:txBody>
      </p:sp>
      <p:sp>
        <p:nvSpPr>
          <p:cNvPr id="5009" name="Card 1 4"/>
          <p:cNvSpPr/>
          <p:nvPr/>
        </p:nvSpPr>
        <p:spPr>
          <a:xfrm>
            <a:off x="5715000" y="63246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10" name="Card 1 4 número"/>
          <p:cNvSpPr txBox="1"/>
          <p:nvPr/>
        </p:nvSpPr>
        <p:spPr>
          <a:xfrm>
            <a:off x="6000750" y="64770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</a:p>
        </p:txBody>
      </p:sp>
      <p:sp>
        <p:nvSpPr>
          <p:cNvPr id="5011" name="Card 1 4 texto"/>
          <p:cNvSpPr txBox="1"/>
          <p:nvPr/>
        </p:nvSpPr>
        <p:spPr>
          <a:xfrm>
            <a:off x="6667500" y="64103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NIUFEX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Espumógeno para extinción de incendios libre de PFAS elaborado con tensoactivos semisintéticos de tipo aniónico obtenidos a partir del reciclaje de aceites de cocina usados.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Desarrollo del espumógeno para incendios clase A y B.</a:t>
            </a:r>
          </a:p>
        </p:txBody>
      </p:sp>
    </p:spTree>
    <p:extLst>
      <p:ext uri="{BB962C8B-B14F-4D97-AF65-F5344CB8AC3E}">
        <p14:creationId xmlns:p14="http://schemas.microsoft.com/office/powerpoint/2010/main" val="192793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sp>
        <p:nvSpPr>
          <p:cNvPr id="25" name="Text 14"/>
          <p:cNvSpPr/>
          <p:nvPr/>
        </p:nvSpPr>
        <p:spPr>
          <a:xfrm>
            <a:off x="16572012" y="9591675"/>
            <a:ext cx="8777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/ 19</a:t>
            </a: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6854266F-13BB-4A91-8D64-6B95D2076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29" name="Imagen 35">
            <a:extLst>
              <a:ext uri="{FF2B5EF4-FFF2-40B4-BE49-F238E27FC236}">
                <a16:creationId xmlns:a16="http://schemas.microsoft.com/office/drawing/2014/main" id="{0B21BE85-1A55-43F7-91D7-4EE62CA2E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  <p:sp>
        <p:nvSpPr>
          <p:cNvPr id="3024" name="Identificador"/>
          <p:cNvSpPr txBox="1"/>
          <p:nvPr/>
        </p:nvSpPr>
        <p:spPr>
          <a:xfrm>
            <a:off x="914400" y="1619250"/>
            <a:ext cx="4476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CO" sz="1500" b="1" spc="200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 SCIENCE2VENTURE · COHORTE I 2026</a:t>
            </a:r>
          </a:p>
        </p:txBody>
      </p:sp>
      <p:pic>
        <p:nvPicPr>
          <p:cNvPr id="3025" name="Foto men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95550"/>
            <a:ext cx="3238500" cy="3238500"/>
          </a:xfrm>
          <a:prstGeom prst="rect">
            <a:avLst/>
          </a:prstGeom>
        </p:spPr>
      </p:pic>
      <p:sp>
        <p:nvSpPr>
          <p:cNvPr id="3026" name="Nombre mentor"/>
          <p:cNvSpPr txBox="1"/>
          <p:nvPr/>
        </p:nvSpPr>
        <p:spPr>
          <a:xfrm>
            <a:off x="914400" y="6057900"/>
            <a:ext cx="4476750" cy="16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s-CO" sz="4000" b="1" spc="-40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 LOAIZA</a:t>
            </a:r>
          </a:p>
        </p:txBody>
      </p:sp>
      <p:sp>
        <p:nvSpPr>
          <p:cNvPr id="3027" name="Acento"/>
          <p:cNvSpPr/>
          <p:nvPr/>
        </p:nvSpPr>
        <p:spPr>
          <a:xfrm>
            <a:off x="914400" y="7867650"/>
            <a:ext cx="609600" cy="47625"/>
          </a:xfrm>
          <a:prstGeom prst="rect">
            <a:avLst/>
          </a:prstGeom>
          <a:solidFill>
            <a:srgbClr val="40C0C0"/>
          </a:solidFill>
          <a:ln>
            <a:noFill/>
          </a:ln>
        </p:spPr>
      </p:sp>
      <p:sp>
        <p:nvSpPr>
          <p:cNvPr id="3028" name="Número de iniciativas"/>
          <p:cNvSpPr txBox="1"/>
          <p:nvPr/>
        </p:nvSpPr>
        <p:spPr>
          <a:xfrm>
            <a:off x="914400" y="8058150"/>
            <a:ext cx="44767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60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r>
              <a:rPr lang="es-CO" sz="20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iniciativas asignadas</a:t>
            </a:r>
          </a:p>
        </p:txBody>
      </p:sp>
      <p:sp>
        <p:nvSpPr>
          <p:cNvPr id="5012" name="Card 2 1"/>
          <p:cNvSpPr/>
          <p:nvPr/>
        </p:nvSpPr>
        <p:spPr>
          <a:xfrm>
            <a:off x="5715000" y="15240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13" name="Card 2 1 número"/>
          <p:cNvSpPr txBox="1"/>
          <p:nvPr/>
        </p:nvSpPr>
        <p:spPr>
          <a:xfrm>
            <a:off x="6000750" y="16764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</a:p>
        </p:txBody>
      </p:sp>
      <p:sp>
        <p:nvSpPr>
          <p:cNvPr id="5014" name="Card 2 1 texto"/>
          <p:cNvSpPr txBox="1"/>
          <p:nvPr/>
        </p:nvSpPr>
        <p:spPr>
          <a:xfrm>
            <a:off x="6667500" y="16097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Tótem Inteligente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Optimización y despliegue de Modelos de Lenguaje Extensos (LLM) en sistemas de cómputo autónomos energéticamente: una solución de IA offline para el fortalecimiento de la educación y la productividad en el sector rural colombiano.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Tótem solar con IA offline que ofrece tutoría STEM y asistencia técnica 24/7 a comunidades rurales sin conectividad ni red eléctrica.</a:t>
            </a:r>
          </a:p>
        </p:txBody>
      </p:sp>
      <p:sp>
        <p:nvSpPr>
          <p:cNvPr id="5015" name="Card 2 2"/>
          <p:cNvSpPr/>
          <p:nvPr/>
        </p:nvSpPr>
        <p:spPr>
          <a:xfrm>
            <a:off x="5715000" y="31242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16" name="Card 2 2 número"/>
          <p:cNvSpPr txBox="1"/>
          <p:nvPr/>
        </p:nvSpPr>
        <p:spPr>
          <a:xfrm>
            <a:off x="6000750" y="32766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</a:p>
        </p:txBody>
      </p:sp>
      <p:sp>
        <p:nvSpPr>
          <p:cNvPr id="5017" name="Card 2 2 texto"/>
          <p:cNvSpPr txBox="1"/>
          <p:nvPr/>
        </p:nvSpPr>
        <p:spPr>
          <a:xfrm>
            <a:off x="6667500" y="32099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Biomuseo Nacional del Queso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Matrices poliméricas solubles y coagulantes nativos para la soberanía de la quesería artesanal.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Convierte el lactosuero de la quesería artesanal en matrices poliméricas biodegradables que conservan cultivos lácticos nativos estables a temperatura ambiente.</a:t>
            </a:r>
          </a:p>
        </p:txBody>
      </p:sp>
      <p:sp>
        <p:nvSpPr>
          <p:cNvPr id="5018" name="Card 2 3"/>
          <p:cNvSpPr/>
          <p:nvPr/>
        </p:nvSpPr>
        <p:spPr>
          <a:xfrm>
            <a:off x="5715000" y="47244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19" name="Card 2 3 número"/>
          <p:cNvSpPr txBox="1"/>
          <p:nvPr/>
        </p:nvSpPr>
        <p:spPr>
          <a:xfrm>
            <a:off x="6000750" y="48768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</a:p>
        </p:txBody>
      </p:sp>
      <p:sp>
        <p:nvSpPr>
          <p:cNvPr id="5020" name="Card 2 3 texto"/>
          <p:cNvSpPr txBox="1"/>
          <p:nvPr/>
        </p:nvSpPr>
        <p:spPr>
          <a:xfrm>
            <a:off x="6667500" y="48101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Agents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conversacional por voz y mensajería, 24/7 y en español latino, para pymes de LATAM que no alcanzan a atender a tiempo sus llamadas y mensajes.</a:t>
            </a:r>
          </a:p>
        </p:txBody>
      </p:sp>
      <p:sp>
        <p:nvSpPr>
          <p:cNvPr id="5021" name="Card 2 4"/>
          <p:cNvSpPr/>
          <p:nvPr/>
        </p:nvSpPr>
        <p:spPr>
          <a:xfrm>
            <a:off x="5715000" y="63246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22" name="Card 2 4 número"/>
          <p:cNvSpPr txBox="1"/>
          <p:nvPr/>
        </p:nvSpPr>
        <p:spPr>
          <a:xfrm>
            <a:off x="6000750" y="64770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</a:p>
        </p:txBody>
      </p:sp>
      <p:sp>
        <p:nvSpPr>
          <p:cNvPr id="5023" name="Card 2 4 texto"/>
          <p:cNvSpPr txBox="1"/>
          <p:nvPr/>
        </p:nvSpPr>
        <p:spPr>
          <a:xfrm>
            <a:off x="6667500" y="64103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EANMOB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Carpooling corporativo entre colegas verificados de una misma organización en Bogotá, con datos de emisiones reducidas para los reportes de sostenibilidad.</a:t>
            </a:r>
          </a:p>
        </p:txBody>
      </p:sp>
      <p:sp>
        <p:nvSpPr>
          <p:cNvPr id="5024" name="Card 2 5"/>
          <p:cNvSpPr/>
          <p:nvPr/>
        </p:nvSpPr>
        <p:spPr>
          <a:xfrm>
            <a:off x="5715000" y="79248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25" name="Card 2 5 número"/>
          <p:cNvSpPr txBox="1"/>
          <p:nvPr/>
        </p:nvSpPr>
        <p:spPr>
          <a:xfrm>
            <a:off x="6000750" y="80772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</a:p>
        </p:txBody>
      </p:sp>
      <p:sp>
        <p:nvSpPr>
          <p:cNvPr id="5026" name="Card 2 5 texto"/>
          <p:cNvSpPr txBox="1"/>
          <p:nvPr/>
        </p:nvSpPr>
        <p:spPr>
          <a:xfrm>
            <a:off x="6667500" y="80105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Hidrogel de quitosano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Formulación de un hidrogel cosmético a base de quitosano (en barra y láminas).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Evalúa reemplazar el carbopol por otros gelificantes y explora sistemas de liberación controlada para el sector cosmético.</a:t>
            </a:r>
          </a:p>
        </p:txBody>
      </p:sp>
    </p:spTree>
    <p:extLst>
      <p:ext uri="{BB962C8B-B14F-4D97-AF65-F5344CB8AC3E}">
        <p14:creationId xmlns:p14="http://schemas.microsoft.com/office/powerpoint/2010/main" val="1663743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sp>
        <p:nvSpPr>
          <p:cNvPr id="25" name="Text 14"/>
          <p:cNvSpPr/>
          <p:nvPr/>
        </p:nvSpPr>
        <p:spPr>
          <a:xfrm>
            <a:off x="16572012" y="9591675"/>
            <a:ext cx="8777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19</a:t>
            </a: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6829993C-59ED-4F91-AAE0-FF2627842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29" name="Imagen 35">
            <a:extLst>
              <a:ext uri="{FF2B5EF4-FFF2-40B4-BE49-F238E27FC236}">
                <a16:creationId xmlns:a16="http://schemas.microsoft.com/office/drawing/2014/main" id="{0E50C90C-DE7E-4AD0-88ED-BD5FFE797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  <p:sp>
        <p:nvSpPr>
          <p:cNvPr id="3044" name="Identificador"/>
          <p:cNvSpPr txBox="1"/>
          <p:nvPr/>
        </p:nvSpPr>
        <p:spPr>
          <a:xfrm>
            <a:off x="914400" y="1619250"/>
            <a:ext cx="4476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CO" sz="1500" b="1" spc="200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 SCIENCE2VENTURE · COHORTE I 2026</a:t>
            </a:r>
          </a:p>
        </p:txBody>
      </p:sp>
      <p:pic>
        <p:nvPicPr>
          <p:cNvPr id="3045" name="Foto men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95550"/>
            <a:ext cx="3238500" cy="3238500"/>
          </a:xfrm>
          <a:prstGeom prst="rect">
            <a:avLst/>
          </a:prstGeom>
        </p:spPr>
      </p:pic>
      <p:sp>
        <p:nvSpPr>
          <p:cNvPr id="3046" name="Nombre mentor"/>
          <p:cNvSpPr txBox="1"/>
          <p:nvPr/>
        </p:nvSpPr>
        <p:spPr>
          <a:xfrm>
            <a:off x="914400" y="6057900"/>
            <a:ext cx="4476750" cy="16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s-CO" sz="4000" b="1" spc="-40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ALEJANDRO ESPEJO</a:t>
            </a:r>
          </a:p>
        </p:txBody>
      </p:sp>
      <p:sp>
        <p:nvSpPr>
          <p:cNvPr id="3047" name="Acento"/>
          <p:cNvSpPr/>
          <p:nvPr/>
        </p:nvSpPr>
        <p:spPr>
          <a:xfrm>
            <a:off x="914400" y="7867650"/>
            <a:ext cx="609600" cy="47625"/>
          </a:xfrm>
          <a:prstGeom prst="rect">
            <a:avLst/>
          </a:prstGeom>
          <a:solidFill>
            <a:srgbClr val="40C0C0"/>
          </a:solidFill>
          <a:ln>
            <a:noFill/>
          </a:ln>
        </p:spPr>
      </p:sp>
      <p:sp>
        <p:nvSpPr>
          <p:cNvPr id="3048" name="Número de iniciativas"/>
          <p:cNvSpPr txBox="1"/>
          <p:nvPr/>
        </p:nvSpPr>
        <p:spPr>
          <a:xfrm>
            <a:off x="914400" y="8058150"/>
            <a:ext cx="44767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60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r>
              <a:rPr lang="es-CO" sz="20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iniciativas asignadas</a:t>
            </a:r>
          </a:p>
        </p:txBody>
      </p:sp>
      <p:sp>
        <p:nvSpPr>
          <p:cNvPr id="5027" name="Card 3 1"/>
          <p:cNvSpPr/>
          <p:nvPr/>
        </p:nvSpPr>
        <p:spPr>
          <a:xfrm>
            <a:off x="5715000" y="15240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28" name="Card 3 1 número"/>
          <p:cNvSpPr txBox="1"/>
          <p:nvPr/>
        </p:nvSpPr>
        <p:spPr>
          <a:xfrm>
            <a:off x="6000750" y="16764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</a:p>
        </p:txBody>
      </p:sp>
      <p:sp>
        <p:nvSpPr>
          <p:cNvPr id="5029" name="Card 3 1 texto"/>
          <p:cNvSpPr txBox="1"/>
          <p:nvPr/>
        </p:nvSpPr>
        <p:spPr>
          <a:xfrm>
            <a:off x="6667500" y="16097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Pasaporte Digital Textil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Pasaporte digital para prendas de vestir y textiles.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Dirigido a exportadores textiles colombianos que deben cumplir la normativa europea (ESPR, GS1/CIRPASS) para conservar su acceso a la UE; prevé expansión a México y Perú.</a:t>
            </a:r>
          </a:p>
        </p:txBody>
      </p:sp>
      <p:sp>
        <p:nvSpPr>
          <p:cNvPr id="5030" name="Card 3 2"/>
          <p:cNvSpPr/>
          <p:nvPr/>
        </p:nvSpPr>
        <p:spPr>
          <a:xfrm>
            <a:off x="5715000" y="31242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31" name="Card 3 2 número"/>
          <p:cNvSpPr txBox="1"/>
          <p:nvPr/>
        </p:nvSpPr>
        <p:spPr>
          <a:xfrm>
            <a:off x="6000750" y="32766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</a:p>
        </p:txBody>
      </p:sp>
      <p:sp>
        <p:nvSpPr>
          <p:cNvPr id="5032" name="Card 3 2 texto"/>
          <p:cNvSpPr txBox="1"/>
          <p:nvPr/>
        </p:nvSpPr>
        <p:spPr>
          <a:xfrm>
            <a:off x="6667500" y="32099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ODEM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 datos en tiempo real e IA para perfilar la oferta de pymes e instituciones de educación superior según la demanda real del mercado y anticipar tendencias.</a:t>
            </a:r>
          </a:p>
        </p:txBody>
      </p:sp>
      <p:sp>
        <p:nvSpPr>
          <p:cNvPr id="5033" name="Card 3 3"/>
          <p:cNvSpPr/>
          <p:nvPr/>
        </p:nvSpPr>
        <p:spPr>
          <a:xfrm>
            <a:off x="5715000" y="47244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34" name="Card 3 3 número"/>
          <p:cNvSpPr txBox="1"/>
          <p:nvPr/>
        </p:nvSpPr>
        <p:spPr>
          <a:xfrm>
            <a:off x="6000750" y="48768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</a:p>
        </p:txBody>
      </p:sp>
      <p:sp>
        <p:nvSpPr>
          <p:cNvPr id="5035" name="Card 3 3 texto"/>
          <p:cNvSpPr txBox="1"/>
          <p:nvPr/>
        </p:nvSpPr>
        <p:spPr>
          <a:xfrm>
            <a:off x="6667500" y="48101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CardioBio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Prevención de falla cardíaca mediante bioimpedancia.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IoT domiciliario que detecta de forma temprana la congestión por líquidos en pacientes con falla cardíaca crónica para reducir las rehospitalizaciones.</a:t>
            </a:r>
          </a:p>
        </p:txBody>
      </p:sp>
      <p:sp>
        <p:nvSpPr>
          <p:cNvPr id="5036" name="Card 3 4"/>
          <p:cNvSpPr/>
          <p:nvPr/>
        </p:nvSpPr>
        <p:spPr>
          <a:xfrm>
            <a:off x="5715000" y="63246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37" name="Card 3 4 número"/>
          <p:cNvSpPr txBox="1"/>
          <p:nvPr/>
        </p:nvSpPr>
        <p:spPr>
          <a:xfrm>
            <a:off x="6000750" y="64770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</a:p>
        </p:txBody>
      </p:sp>
      <p:sp>
        <p:nvSpPr>
          <p:cNvPr id="5038" name="Card 3 4 texto"/>
          <p:cNvSpPr txBox="1"/>
          <p:nvPr/>
        </p:nvSpPr>
        <p:spPr>
          <a:xfrm>
            <a:off x="6667500" y="64103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Boltzmann-Curie-Weiss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Boltzmann-Curie-Weiss approximation for ferromagnetism.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Aplicación que cuantifica propiedades magnéticas de materiales ferromagnéticos mediante una aproximación termodinámica, con un repositorio consultable para docencia e investigación.</a:t>
            </a:r>
          </a:p>
        </p:txBody>
      </p:sp>
      <p:sp>
        <p:nvSpPr>
          <p:cNvPr id="5039" name="Card 3 5"/>
          <p:cNvSpPr/>
          <p:nvPr/>
        </p:nvSpPr>
        <p:spPr>
          <a:xfrm>
            <a:off x="5715000" y="79248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40" name="Card 3 5 número"/>
          <p:cNvSpPr txBox="1"/>
          <p:nvPr/>
        </p:nvSpPr>
        <p:spPr>
          <a:xfrm>
            <a:off x="6000750" y="80772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</a:p>
        </p:txBody>
      </p:sp>
      <p:sp>
        <p:nvSpPr>
          <p:cNvPr id="5041" name="Card 3 5 texto"/>
          <p:cNvSpPr txBox="1"/>
          <p:nvPr/>
        </p:nvSpPr>
        <p:spPr>
          <a:xfrm>
            <a:off x="6667500" y="80105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Prevent Link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Tecnología que nos enlaza.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Dispositivo con visión por computador e IA que enlaza los EPP con la máquina: si el operario no los usa correctamente, la máquina no enciende.</a:t>
            </a:r>
          </a:p>
        </p:txBody>
      </p:sp>
    </p:spTree>
    <p:extLst>
      <p:ext uri="{BB962C8B-B14F-4D97-AF65-F5344CB8AC3E}">
        <p14:creationId xmlns:p14="http://schemas.microsoft.com/office/powerpoint/2010/main" val="1760529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sp>
        <p:nvSpPr>
          <p:cNvPr id="25" name="Text 14"/>
          <p:cNvSpPr/>
          <p:nvPr/>
        </p:nvSpPr>
        <p:spPr>
          <a:xfrm>
            <a:off x="16572012" y="9591675"/>
            <a:ext cx="8777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19</a:t>
            </a: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7E803C78-09A2-4213-AB94-6BC681E43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29" name="Imagen 35">
            <a:extLst>
              <a:ext uri="{FF2B5EF4-FFF2-40B4-BE49-F238E27FC236}">
                <a16:creationId xmlns:a16="http://schemas.microsoft.com/office/drawing/2014/main" id="{EAC017A4-722F-4146-94B0-6D07E2B13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  <p:sp>
        <p:nvSpPr>
          <p:cNvPr id="3064" name="Identificador"/>
          <p:cNvSpPr txBox="1"/>
          <p:nvPr/>
        </p:nvSpPr>
        <p:spPr>
          <a:xfrm>
            <a:off x="914400" y="1619250"/>
            <a:ext cx="4476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CO" sz="1500" b="1" spc="200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 SCIENCE2VENTURE · COHORTE I 2026</a:t>
            </a:r>
          </a:p>
        </p:txBody>
      </p:sp>
      <p:pic>
        <p:nvPicPr>
          <p:cNvPr id="3065" name="Foto men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95550"/>
            <a:ext cx="3238500" cy="3238500"/>
          </a:xfrm>
          <a:prstGeom prst="rect">
            <a:avLst/>
          </a:prstGeom>
        </p:spPr>
      </p:pic>
      <p:sp>
        <p:nvSpPr>
          <p:cNvPr id="3066" name="Nombre mentor"/>
          <p:cNvSpPr txBox="1"/>
          <p:nvPr/>
        </p:nvSpPr>
        <p:spPr>
          <a:xfrm>
            <a:off x="914400" y="6057900"/>
            <a:ext cx="4476750" cy="16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s-CO" sz="4000" b="1" spc="-40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CAMILO SALAMANCA</a:t>
            </a:r>
          </a:p>
        </p:txBody>
      </p:sp>
      <p:sp>
        <p:nvSpPr>
          <p:cNvPr id="3067" name="Acento"/>
          <p:cNvSpPr/>
          <p:nvPr/>
        </p:nvSpPr>
        <p:spPr>
          <a:xfrm>
            <a:off x="914400" y="7867650"/>
            <a:ext cx="609600" cy="47625"/>
          </a:xfrm>
          <a:prstGeom prst="rect">
            <a:avLst/>
          </a:prstGeom>
          <a:solidFill>
            <a:srgbClr val="40C0C0"/>
          </a:solidFill>
          <a:ln>
            <a:noFill/>
          </a:ln>
        </p:spPr>
      </p:sp>
      <p:sp>
        <p:nvSpPr>
          <p:cNvPr id="3068" name="Número de iniciativas"/>
          <p:cNvSpPr txBox="1"/>
          <p:nvPr/>
        </p:nvSpPr>
        <p:spPr>
          <a:xfrm>
            <a:off x="914400" y="8058150"/>
            <a:ext cx="44767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60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r>
              <a:rPr lang="es-CO" sz="20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iniciativas asignadas</a:t>
            </a:r>
          </a:p>
        </p:txBody>
      </p:sp>
      <p:sp>
        <p:nvSpPr>
          <p:cNvPr id="5042" name="Card 4 1"/>
          <p:cNvSpPr/>
          <p:nvPr/>
        </p:nvSpPr>
        <p:spPr>
          <a:xfrm>
            <a:off x="5715000" y="15240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43" name="Card 4 1 número"/>
          <p:cNvSpPr txBox="1"/>
          <p:nvPr/>
        </p:nvSpPr>
        <p:spPr>
          <a:xfrm>
            <a:off x="6000750" y="16764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</a:p>
        </p:txBody>
      </p:sp>
      <p:sp>
        <p:nvSpPr>
          <p:cNvPr id="5044" name="Card 4 1 texto"/>
          <p:cNvSpPr txBox="1"/>
          <p:nvPr/>
        </p:nvSpPr>
        <p:spPr>
          <a:xfrm>
            <a:off x="6667500" y="16097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Sabbia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Unidad de saneamiento ambiental básico integrado alternativo.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LEHO SAS instala sanitarios secos y unidades sanitarias sin agua en zonas sin alcantarillado; 12 años de operación, incluidos los PNN Tayrona, Cocuy y Cayo Cangrejo.</a:t>
            </a:r>
          </a:p>
        </p:txBody>
      </p:sp>
      <p:sp>
        <p:nvSpPr>
          <p:cNvPr id="5045" name="Card 4 2"/>
          <p:cNvSpPr/>
          <p:nvPr/>
        </p:nvSpPr>
        <p:spPr>
          <a:xfrm>
            <a:off x="5715000" y="31242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46" name="Card 4 2 número"/>
          <p:cNvSpPr txBox="1"/>
          <p:nvPr/>
        </p:nvSpPr>
        <p:spPr>
          <a:xfrm>
            <a:off x="6000750" y="32766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</a:p>
        </p:txBody>
      </p:sp>
      <p:sp>
        <p:nvSpPr>
          <p:cNvPr id="5047" name="Card 4 2 texto"/>
          <p:cNvSpPr txBox="1"/>
          <p:nvPr/>
        </p:nvSpPr>
        <p:spPr>
          <a:xfrm>
            <a:off x="6667500" y="32099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HandTalk CB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Reconocimiento de la Lengua de Señas Colombiana mediante visión artificial e IA, con la intención de servir de base tecnológica para robots y sistemas inteligentes.</a:t>
            </a:r>
          </a:p>
        </p:txBody>
      </p:sp>
      <p:sp>
        <p:nvSpPr>
          <p:cNvPr id="5048" name="Card 4 3"/>
          <p:cNvSpPr/>
          <p:nvPr/>
        </p:nvSpPr>
        <p:spPr>
          <a:xfrm>
            <a:off x="5715000" y="47244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49" name="Card 4 3 número"/>
          <p:cNvSpPr txBox="1"/>
          <p:nvPr/>
        </p:nvSpPr>
        <p:spPr>
          <a:xfrm>
            <a:off x="6000750" y="48768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</a:p>
        </p:txBody>
      </p:sp>
      <p:sp>
        <p:nvSpPr>
          <p:cNvPr id="5050" name="Card 4 3 texto"/>
          <p:cNvSpPr txBox="1"/>
          <p:nvPr/>
        </p:nvSpPr>
        <p:spPr>
          <a:xfrm>
            <a:off x="6667500" y="48101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VitalSis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Plataforma digital integradora de sistemas de salud.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Conecta pacientes, médicos, especialistas y farmacias, con historia clínica electrónica interoperable, telemedicina y triage clínico asistido por IA.</a:t>
            </a:r>
          </a:p>
        </p:txBody>
      </p:sp>
      <p:sp>
        <p:nvSpPr>
          <p:cNvPr id="5051" name="Card 4 4"/>
          <p:cNvSpPr/>
          <p:nvPr/>
        </p:nvSpPr>
        <p:spPr>
          <a:xfrm>
            <a:off x="5715000" y="63246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52" name="Card 4 4 número"/>
          <p:cNvSpPr txBox="1"/>
          <p:nvPr/>
        </p:nvSpPr>
        <p:spPr>
          <a:xfrm>
            <a:off x="6000750" y="64770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</a:p>
        </p:txBody>
      </p:sp>
      <p:sp>
        <p:nvSpPr>
          <p:cNvPr id="5053" name="Card 4 4 texto"/>
          <p:cNvSpPr txBox="1"/>
          <p:nvPr/>
        </p:nvSpPr>
        <p:spPr>
          <a:xfrm>
            <a:off x="6667500" y="64103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Re-Evolución Biomecánica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Bipedestadores Sostenibles y Centro Terapéutico Integral.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Bipedestadores modulares fabricados con materiales industriales reciclados, integrados a un modelo de servicios terapéuticos accesibles tipo IPS para rehabilitación neurológica.</a:t>
            </a:r>
          </a:p>
        </p:txBody>
      </p:sp>
      <p:sp>
        <p:nvSpPr>
          <p:cNvPr id="5054" name="Card 4 5"/>
          <p:cNvSpPr/>
          <p:nvPr/>
        </p:nvSpPr>
        <p:spPr>
          <a:xfrm>
            <a:off x="5715000" y="79248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55" name="Card 4 5 número"/>
          <p:cNvSpPr txBox="1"/>
          <p:nvPr/>
        </p:nvSpPr>
        <p:spPr>
          <a:xfrm>
            <a:off x="6000750" y="80772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</a:p>
        </p:txBody>
      </p:sp>
      <p:sp>
        <p:nvSpPr>
          <p:cNvPr id="5056" name="Card 4 5 texto"/>
          <p:cNvSpPr txBox="1"/>
          <p:nvPr/>
        </p:nvSpPr>
        <p:spPr>
          <a:xfrm>
            <a:off x="6667500" y="80105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Sapere Aude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Acompañamiento académico personalizado y consultoría en varias áreas, mediante asesorías, clases virtuales y contenido educativo en redes sociales.</a:t>
            </a:r>
          </a:p>
        </p:txBody>
      </p:sp>
    </p:spTree>
    <p:extLst>
      <p:ext uri="{BB962C8B-B14F-4D97-AF65-F5344CB8AC3E}">
        <p14:creationId xmlns:p14="http://schemas.microsoft.com/office/powerpoint/2010/main" val="2662194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sp>
        <p:nvSpPr>
          <p:cNvPr id="25" name="Text 14"/>
          <p:cNvSpPr/>
          <p:nvPr/>
        </p:nvSpPr>
        <p:spPr>
          <a:xfrm>
            <a:off x="16572012" y="9591675"/>
            <a:ext cx="8777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19</a:t>
            </a: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266449D0-B345-4B69-A2EE-A67500ABC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29" name="Imagen 35">
            <a:extLst>
              <a:ext uri="{FF2B5EF4-FFF2-40B4-BE49-F238E27FC236}">
                <a16:creationId xmlns:a16="http://schemas.microsoft.com/office/drawing/2014/main" id="{1D342228-D736-4870-9B1C-760F8B94D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  <p:sp>
        <p:nvSpPr>
          <p:cNvPr id="3084" name="Identificador"/>
          <p:cNvSpPr txBox="1"/>
          <p:nvPr/>
        </p:nvSpPr>
        <p:spPr>
          <a:xfrm>
            <a:off x="914400" y="1619250"/>
            <a:ext cx="4476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CO" sz="1500" b="1" spc="200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 SCIENCE2VENTURE · COHORTE I 2026</a:t>
            </a:r>
          </a:p>
        </p:txBody>
      </p:sp>
      <p:pic>
        <p:nvPicPr>
          <p:cNvPr id="3085" name="Foto men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95550"/>
            <a:ext cx="3238500" cy="3238500"/>
          </a:xfrm>
          <a:prstGeom prst="rect">
            <a:avLst/>
          </a:prstGeom>
        </p:spPr>
      </p:pic>
      <p:sp>
        <p:nvSpPr>
          <p:cNvPr id="3086" name="Nombre mentor"/>
          <p:cNvSpPr txBox="1"/>
          <p:nvPr/>
        </p:nvSpPr>
        <p:spPr>
          <a:xfrm>
            <a:off x="914400" y="6057900"/>
            <a:ext cx="4476750" cy="16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s-CO" sz="4000" b="1" spc="-40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ALEJANDRA LÓPEZ</a:t>
            </a:r>
          </a:p>
        </p:txBody>
      </p:sp>
      <p:sp>
        <p:nvSpPr>
          <p:cNvPr id="3087" name="Acento"/>
          <p:cNvSpPr/>
          <p:nvPr/>
        </p:nvSpPr>
        <p:spPr>
          <a:xfrm>
            <a:off x="914400" y="7867650"/>
            <a:ext cx="609600" cy="47625"/>
          </a:xfrm>
          <a:prstGeom prst="rect">
            <a:avLst/>
          </a:prstGeom>
          <a:solidFill>
            <a:srgbClr val="40C0C0"/>
          </a:solidFill>
          <a:ln>
            <a:noFill/>
          </a:ln>
        </p:spPr>
      </p:sp>
      <p:sp>
        <p:nvSpPr>
          <p:cNvPr id="3088" name="Número de iniciativas"/>
          <p:cNvSpPr txBox="1"/>
          <p:nvPr/>
        </p:nvSpPr>
        <p:spPr>
          <a:xfrm>
            <a:off x="914400" y="8058150"/>
            <a:ext cx="44767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60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r>
              <a:rPr lang="es-CO" sz="20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iniciativas asignadas</a:t>
            </a:r>
          </a:p>
        </p:txBody>
      </p:sp>
      <p:sp>
        <p:nvSpPr>
          <p:cNvPr id="5057" name="Card 5 1"/>
          <p:cNvSpPr/>
          <p:nvPr/>
        </p:nvSpPr>
        <p:spPr>
          <a:xfrm>
            <a:off x="5715000" y="15240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58" name="Card 5 1 número"/>
          <p:cNvSpPr txBox="1"/>
          <p:nvPr/>
        </p:nvSpPr>
        <p:spPr>
          <a:xfrm>
            <a:off x="6000750" y="16764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</a:p>
        </p:txBody>
      </p:sp>
      <p:sp>
        <p:nvSpPr>
          <p:cNvPr id="5059" name="Card 5 1 texto"/>
          <p:cNvSpPr txBox="1"/>
          <p:nvPr/>
        </p:nvSpPr>
        <p:spPr>
          <a:xfrm>
            <a:off x="6667500" y="16097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BIO MENTOR AI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Plataforma Colaborativa para la Bioeconomía impulsada por IA.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Interconecta a los actores de la bioeconomía y construye una base de conocimiento de biodiversidad actualizada en tiempo real con IA e IoT.</a:t>
            </a:r>
          </a:p>
        </p:txBody>
      </p:sp>
      <p:sp>
        <p:nvSpPr>
          <p:cNvPr id="5060" name="Card 5 2"/>
          <p:cNvSpPr/>
          <p:nvPr/>
        </p:nvSpPr>
        <p:spPr>
          <a:xfrm>
            <a:off x="5715000" y="31242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61" name="Card 5 2 número"/>
          <p:cNvSpPr txBox="1"/>
          <p:nvPr/>
        </p:nvSpPr>
        <p:spPr>
          <a:xfrm>
            <a:off x="6000750" y="32766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</a:p>
        </p:txBody>
      </p:sp>
      <p:sp>
        <p:nvSpPr>
          <p:cNvPr id="5062" name="Card 5 2 texto"/>
          <p:cNvSpPr txBox="1"/>
          <p:nvPr/>
        </p:nvSpPr>
        <p:spPr>
          <a:xfrm>
            <a:off x="6667500" y="32099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Bioecoscan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Sensores en campo y certificación en blockchain que convierten el ecosistema del suelo en información auditable, para acceder a mercados premium y generar créditos de carbono.</a:t>
            </a:r>
          </a:p>
        </p:txBody>
      </p:sp>
      <p:sp>
        <p:nvSpPr>
          <p:cNvPr id="5063" name="Card 5 3"/>
          <p:cNvSpPr/>
          <p:nvPr/>
        </p:nvSpPr>
        <p:spPr>
          <a:xfrm>
            <a:off x="5715000" y="47244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64" name="Card 5 3 número"/>
          <p:cNvSpPr txBox="1"/>
          <p:nvPr/>
        </p:nvSpPr>
        <p:spPr>
          <a:xfrm>
            <a:off x="6000750" y="48768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</a:p>
        </p:txBody>
      </p:sp>
      <p:sp>
        <p:nvSpPr>
          <p:cNvPr id="5065" name="Card 5 3 texto"/>
          <p:cNvSpPr txBox="1"/>
          <p:nvPr/>
        </p:nvSpPr>
        <p:spPr>
          <a:xfrm>
            <a:off x="6667500" y="48101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BRISTOL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Plataforma Autónoma de Monitoreo Agrícola Inteligente para Cultivos de Papa de Alta Montaña en Colombia.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Mide con sensores e IA la humedad del suelo, la temperatura, la lluvia y los nutrientes en tiempo real para anticipar pérdidas en el cultivo.</a:t>
            </a:r>
          </a:p>
        </p:txBody>
      </p:sp>
      <p:sp>
        <p:nvSpPr>
          <p:cNvPr id="5066" name="Card 5 4"/>
          <p:cNvSpPr/>
          <p:nvPr/>
        </p:nvSpPr>
        <p:spPr>
          <a:xfrm>
            <a:off x="5715000" y="63246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67" name="Card 5 4 número"/>
          <p:cNvSpPr txBox="1"/>
          <p:nvPr/>
        </p:nvSpPr>
        <p:spPr>
          <a:xfrm>
            <a:off x="6000750" y="64770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</a:p>
        </p:txBody>
      </p:sp>
      <p:sp>
        <p:nvSpPr>
          <p:cNvPr id="5068" name="Card 5 4 texto"/>
          <p:cNvSpPr txBox="1"/>
          <p:nvPr/>
        </p:nvSpPr>
        <p:spPr>
          <a:xfrm>
            <a:off x="6667500" y="64103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 Terreno Colombia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Herramienta digital de planeación y acompañamiento para campesinos y pequeños agricultores, orientada a la asociatividad y al acceso a mercados y recursos públicos.</a:t>
            </a:r>
          </a:p>
        </p:txBody>
      </p:sp>
    </p:spTree>
    <p:extLst>
      <p:ext uri="{BB962C8B-B14F-4D97-AF65-F5344CB8AC3E}">
        <p14:creationId xmlns:p14="http://schemas.microsoft.com/office/powerpoint/2010/main" val="1873133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sp>
        <p:nvSpPr>
          <p:cNvPr id="25" name="Text 14"/>
          <p:cNvSpPr/>
          <p:nvPr/>
        </p:nvSpPr>
        <p:spPr>
          <a:xfrm>
            <a:off x="16572012" y="9591675"/>
            <a:ext cx="8777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19</a:t>
            </a: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FAA11DB6-3228-4320-953A-C755205D6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29" name="Imagen 35">
            <a:extLst>
              <a:ext uri="{FF2B5EF4-FFF2-40B4-BE49-F238E27FC236}">
                <a16:creationId xmlns:a16="http://schemas.microsoft.com/office/drawing/2014/main" id="{C6FF22EB-A55C-4EEE-A9DF-2860A0CE1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  <p:sp>
        <p:nvSpPr>
          <p:cNvPr id="3101" name="Identificador"/>
          <p:cNvSpPr txBox="1"/>
          <p:nvPr/>
        </p:nvSpPr>
        <p:spPr>
          <a:xfrm>
            <a:off x="914400" y="1619250"/>
            <a:ext cx="4476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CO" sz="1500" b="1" spc="200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 SCIENCE2VENTURE · COHORTE I 2026</a:t>
            </a:r>
          </a:p>
        </p:txBody>
      </p:sp>
      <p:pic>
        <p:nvPicPr>
          <p:cNvPr id="3102" name="Foto men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95550"/>
            <a:ext cx="3238500" cy="3238500"/>
          </a:xfrm>
          <a:prstGeom prst="rect">
            <a:avLst/>
          </a:prstGeom>
        </p:spPr>
      </p:pic>
      <p:sp>
        <p:nvSpPr>
          <p:cNvPr id="3103" name="Nombre mentor"/>
          <p:cNvSpPr txBox="1"/>
          <p:nvPr/>
        </p:nvSpPr>
        <p:spPr>
          <a:xfrm>
            <a:off x="914400" y="6057900"/>
            <a:ext cx="4476750" cy="16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s-CO" sz="4000" b="1" spc="-40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ÓSCAR DURÁN</a:t>
            </a:r>
          </a:p>
        </p:txBody>
      </p:sp>
      <p:sp>
        <p:nvSpPr>
          <p:cNvPr id="3104" name="Acento"/>
          <p:cNvSpPr/>
          <p:nvPr/>
        </p:nvSpPr>
        <p:spPr>
          <a:xfrm>
            <a:off x="914400" y="7867650"/>
            <a:ext cx="609600" cy="47625"/>
          </a:xfrm>
          <a:prstGeom prst="rect">
            <a:avLst/>
          </a:prstGeom>
          <a:solidFill>
            <a:srgbClr val="40C0C0"/>
          </a:solidFill>
          <a:ln>
            <a:noFill/>
          </a:ln>
        </p:spPr>
      </p:sp>
      <p:sp>
        <p:nvSpPr>
          <p:cNvPr id="3105" name="Número de iniciativas"/>
          <p:cNvSpPr txBox="1"/>
          <p:nvPr/>
        </p:nvSpPr>
        <p:spPr>
          <a:xfrm>
            <a:off x="914400" y="8058150"/>
            <a:ext cx="44767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60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r>
              <a:rPr lang="es-CO" sz="20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iniciativas asignadas</a:t>
            </a:r>
          </a:p>
        </p:txBody>
      </p:sp>
      <p:sp>
        <p:nvSpPr>
          <p:cNvPr id="5069" name="Card 6 1"/>
          <p:cNvSpPr/>
          <p:nvPr/>
        </p:nvSpPr>
        <p:spPr>
          <a:xfrm>
            <a:off x="5715000" y="15240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70" name="Card 6 1 número"/>
          <p:cNvSpPr txBox="1"/>
          <p:nvPr/>
        </p:nvSpPr>
        <p:spPr>
          <a:xfrm>
            <a:off x="6000750" y="16764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</a:p>
        </p:txBody>
      </p:sp>
      <p:sp>
        <p:nvSpPr>
          <p:cNvPr id="5071" name="Card 6 1 texto"/>
          <p:cNvSpPr txBox="1"/>
          <p:nvPr/>
        </p:nvSpPr>
        <p:spPr>
          <a:xfrm>
            <a:off x="6667500" y="16097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SOMA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Response Intelligence para retail, marcas y agencias de investigación: combina señales fisiológicas y comportamentales con IA para medir cómo responden los consumidores, no solo lo que dicen.</a:t>
            </a:r>
          </a:p>
        </p:txBody>
      </p:sp>
      <p:sp>
        <p:nvSpPr>
          <p:cNvPr id="5072" name="Card 6 2"/>
          <p:cNvSpPr/>
          <p:nvPr/>
        </p:nvSpPr>
        <p:spPr>
          <a:xfrm>
            <a:off x="5715000" y="31242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73" name="Card 6 2 número"/>
          <p:cNvSpPr txBox="1"/>
          <p:nvPr/>
        </p:nvSpPr>
        <p:spPr>
          <a:xfrm>
            <a:off x="6000750" y="32766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</a:p>
        </p:txBody>
      </p:sp>
      <p:sp>
        <p:nvSpPr>
          <p:cNvPr id="5074" name="Card 6 2 texto"/>
          <p:cNvSpPr txBox="1"/>
          <p:nvPr/>
        </p:nvSpPr>
        <p:spPr>
          <a:xfrm>
            <a:off x="6667500" y="32099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Riesgo latente y persistencia regulatoria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OTC ambientales europeos y la vulnerabilidad exportadora manufacturera de Colombia, 2016–2026.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Herramienta de inteligencia comercial que genera alertas tempranas sobre nuevas regulaciones ambientales europeas y mide el riesgo de cada sector exportador colombiano.</a:t>
            </a:r>
          </a:p>
        </p:txBody>
      </p:sp>
    </p:spTree>
    <p:extLst>
      <p:ext uri="{BB962C8B-B14F-4D97-AF65-F5344CB8AC3E}">
        <p14:creationId xmlns:p14="http://schemas.microsoft.com/office/powerpoint/2010/main" val="1830202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57845" y="585788"/>
            <a:ext cx="50773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SCIENCE2VENTURE · COHORTE I 2026</a:t>
            </a:r>
            <a:endParaRPr lang="en-US" sz="1650"/>
          </a:p>
        </p:txBody>
      </p:sp>
      <p:sp>
        <p:nvSpPr>
          <p:cNvPr id="25" name="Text 14"/>
          <p:cNvSpPr/>
          <p:nvPr/>
        </p:nvSpPr>
        <p:spPr>
          <a:xfrm>
            <a:off x="16572012" y="9591675"/>
            <a:ext cx="8777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19</a:t>
            </a: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500AFFC2-6D0D-4295-8B07-91BC98C9B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29" name="Imagen 35">
            <a:extLst>
              <a:ext uri="{FF2B5EF4-FFF2-40B4-BE49-F238E27FC236}">
                <a16:creationId xmlns:a16="http://schemas.microsoft.com/office/drawing/2014/main" id="{663EFF05-C055-4598-A321-2DD2889BA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  <p:sp>
        <p:nvSpPr>
          <p:cNvPr id="3112" name="Identificador"/>
          <p:cNvSpPr txBox="1"/>
          <p:nvPr/>
        </p:nvSpPr>
        <p:spPr>
          <a:xfrm>
            <a:off x="914400" y="1619250"/>
            <a:ext cx="4476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s-CO" sz="1500" b="1" spc="200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 SCIENCE2VENTURE · COHORTE I 2026</a:t>
            </a:r>
          </a:p>
        </p:txBody>
      </p:sp>
      <p:pic>
        <p:nvPicPr>
          <p:cNvPr id="3113" name="Foto men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95550"/>
            <a:ext cx="3238500" cy="3238500"/>
          </a:xfrm>
          <a:prstGeom prst="rect">
            <a:avLst/>
          </a:prstGeom>
        </p:spPr>
      </p:pic>
      <p:sp>
        <p:nvSpPr>
          <p:cNvPr id="3114" name="Nombre mentor"/>
          <p:cNvSpPr txBox="1"/>
          <p:nvPr/>
        </p:nvSpPr>
        <p:spPr>
          <a:xfrm>
            <a:off x="914400" y="6057900"/>
            <a:ext cx="4476750" cy="16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s-CO" sz="4000" b="1" spc="-40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 FELIPE SALCEDO</a:t>
            </a:r>
          </a:p>
        </p:txBody>
      </p:sp>
      <p:sp>
        <p:nvSpPr>
          <p:cNvPr id="3115" name="Acento"/>
          <p:cNvSpPr/>
          <p:nvPr/>
        </p:nvSpPr>
        <p:spPr>
          <a:xfrm>
            <a:off x="914400" y="7867650"/>
            <a:ext cx="609600" cy="47625"/>
          </a:xfrm>
          <a:prstGeom prst="rect">
            <a:avLst/>
          </a:prstGeom>
          <a:solidFill>
            <a:srgbClr val="40C0C0"/>
          </a:solidFill>
          <a:ln>
            <a:noFill/>
          </a:ln>
        </p:spPr>
      </p:sp>
      <p:sp>
        <p:nvSpPr>
          <p:cNvPr id="3116" name="Número de iniciativas"/>
          <p:cNvSpPr txBox="1"/>
          <p:nvPr/>
        </p:nvSpPr>
        <p:spPr>
          <a:xfrm>
            <a:off x="914400" y="8058150"/>
            <a:ext cx="44767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60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r>
              <a:rPr lang="es-CO" sz="20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iniciativas asignadas</a:t>
            </a:r>
          </a:p>
        </p:txBody>
      </p:sp>
      <p:sp>
        <p:nvSpPr>
          <p:cNvPr id="5075" name="Card 7 1"/>
          <p:cNvSpPr/>
          <p:nvPr/>
        </p:nvSpPr>
        <p:spPr>
          <a:xfrm>
            <a:off x="5715000" y="15240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76" name="Card 7 1 número"/>
          <p:cNvSpPr txBox="1"/>
          <p:nvPr/>
        </p:nvSpPr>
        <p:spPr>
          <a:xfrm>
            <a:off x="6000750" y="16764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</a:p>
        </p:txBody>
      </p:sp>
      <p:sp>
        <p:nvSpPr>
          <p:cNvPr id="5077" name="Card 7 1 texto"/>
          <p:cNvSpPr txBox="1"/>
          <p:nvPr/>
        </p:nvSpPr>
        <p:spPr>
          <a:xfrm>
            <a:off x="6667500" y="16097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Comunicación Sin Barreras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Aplicación que facilita la interacción paciente-odontólogo cuando el paciente tiene discapacidad auditiva; dirigida a EPS, IPS y consultorios independientes.</a:t>
            </a:r>
          </a:p>
        </p:txBody>
      </p:sp>
      <p:sp>
        <p:nvSpPr>
          <p:cNvPr id="5078" name="Card 7 2"/>
          <p:cNvSpPr/>
          <p:nvPr/>
        </p:nvSpPr>
        <p:spPr>
          <a:xfrm>
            <a:off x="5715000" y="31242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79" name="Card 7 2 número"/>
          <p:cNvSpPr txBox="1"/>
          <p:nvPr/>
        </p:nvSpPr>
        <p:spPr>
          <a:xfrm>
            <a:off x="6000750" y="32766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</a:p>
        </p:txBody>
      </p:sp>
      <p:sp>
        <p:nvSpPr>
          <p:cNvPr id="5080" name="Card 7 2 texto"/>
          <p:cNvSpPr txBox="1"/>
          <p:nvPr/>
        </p:nvSpPr>
        <p:spPr>
          <a:xfrm>
            <a:off x="6667500" y="32099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Polen Hub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 de conocimiento con IA que conecta retos reales del territorio con microcurrículos universitarios y acredita micro-credenciales en blockchain.</a:t>
            </a:r>
          </a:p>
        </p:txBody>
      </p:sp>
      <p:sp>
        <p:nvSpPr>
          <p:cNvPr id="5081" name="Card 7 3"/>
          <p:cNvSpPr/>
          <p:nvPr/>
        </p:nvSpPr>
        <p:spPr>
          <a:xfrm>
            <a:off x="5715000" y="47244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82" name="Card 7 3 número"/>
          <p:cNvSpPr txBox="1"/>
          <p:nvPr/>
        </p:nvSpPr>
        <p:spPr>
          <a:xfrm>
            <a:off x="6000750" y="48768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</a:p>
        </p:txBody>
      </p:sp>
      <p:sp>
        <p:nvSpPr>
          <p:cNvPr id="5083" name="Card 7 3 texto"/>
          <p:cNvSpPr txBox="1"/>
          <p:nvPr/>
        </p:nvSpPr>
        <p:spPr>
          <a:xfrm>
            <a:off x="6667500" y="48101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Hermes</a:t>
            </a:r>
          </a:p>
          <a:p>
            <a:pPr marL="0" indent="0"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personal disponible 24 horas para mejorar los resultados y la velocidad de los distintos proyectos de la vida de cualquier persona.</a:t>
            </a:r>
          </a:p>
        </p:txBody>
      </p:sp>
      <p:sp>
        <p:nvSpPr>
          <p:cNvPr id="5084" name="Card 7 4"/>
          <p:cNvSpPr/>
          <p:nvPr/>
        </p:nvSpPr>
        <p:spPr>
          <a:xfrm>
            <a:off x="5715000" y="63246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85" name="Card 7 4 número"/>
          <p:cNvSpPr txBox="1"/>
          <p:nvPr/>
        </p:nvSpPr>
        <p:spPr>
          <a:xfrm>
            <a:off x="6000750" y="64770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</a:p>
        </p:txBody>
      </p:sp>
      <p:sp>
        <p:nvSpPr>
          <p:cNvPr id="5086" name="Card 7 4 texto"/>
          <p:cNvSpPr txBox="1"/>
          <p:nvPr/>
        </p:nvSpPr>
        <p:spPr>
          <a:xfrm>
            <a:off x="6667500" y="64103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Innovación que se respira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Diseño de una identidad olfativa.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Diseño científico de identidades olfativas para marcas colombianas, con neurovalidación en el Neuro Lab Ean y el modelo propio C.O.R.E.®</a:t>
            </a:r>
          </a:p>
        </p:txBody>
      </p:sp>
      <p:sp>
        <p:nvSpPr>
          <p:cNvPr id="5087" name="Card 7 5"/>
          <p:cNvSpPr/>
          <p:nvPr/>
        </p:nvSpPr>
        <p:spPr>
          <a:xfrm>
            <a:off x="5715000" y="7924800"/>
            <a:ext cx="11658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5088" name="Card 7 5 número"/>
          <p:cNvSpPr txBox="1"/>
          <p:nvPr/>
        </p:nvSpPr>
        <p:spPr>
          <a:xfrm>
            <a:off x="6000750" y="80772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CO" sz="1800" b="1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</a:p>
        </p:txBody>
      </p:sp>
      <p:sp>
        <p:nvSpPr>
          <p:cNvPr id="5089" name="Card 7 5 texto"/>
          <p:cNvSpPr txBox="1"/>
          <p:nvPr/>
        </p:nvSpPr>
        <p:spPr>
          <a:xfrm>
            <a:off x="6667500" y="8010525"/>
            <a:ext cx="10420350" cy="13144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s-CO" sz="220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cambio como mecánica de juego</a:t>
            </a:r>
          </a:p>
          <a:p>
            <a:pPr marL="0" indent="0"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s-CO" sz="1150" dirty="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Desarrollo de un RPG educativo para la enseñanza de derivadas.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s-CO" sz="1400" dirty="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Videojuego de rol dirigido a estudiantes para enseñarles a derivar.</a:t>
            </a:r>
          </a:p>
        </p:txBody>
      </p:sp>
    </p:spTree>
    <p:extLst>
      <p:ext uri="{BB962C8B-B14F-4D97-AF65-F5344CB8AC3E}">
        <p14:creationId xmlns:p14="http://schemas.microsoft.com/office/powerpoint/2010/main" val="2471711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14400" y="1428750"/>
            <a:ext cx="181051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6667"/>
              </a:lnSpc>
              <a:buNone/>
            </a:pPr>
            <a:r>
              <a:rPr lang="en-US" sz="5400" b="1" kern="0" spc="-108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se ve una etapa para el mentor</a:t>
            </a:r>
          </a:p>
        </p:txBody>
      </p:sp>
      <p:sp>
        <p:nvSpPr>
          <p:cNvPr id="5" name="Text 2"/>
          <p:cNvSpPr/>
          <p:nvPr/>
        </p:nvSpPr>
        <p:spPr>
          <a:xfrm>
            <a:off x="914400" y="2228850"/>
            <a:ext cx="181051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misma estructura se repite en las seis etapas de la ruta.</a:t>
            </a:r>
          </a:p>
        </p:txBody>
      </p:sp>
      <p:sp>
        <p:nvSpPr>
          <p:cNvPr id="6" name="Text 3"/>
          <p:cNvSpPr/>
          <p:nvPr/>
        </p:nvSpPr>
        <p:spPr>
          <a:xfrm>
            <a:off x="914400" y="3143250"/>
            <a:ext cx="85915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CADA MENTORÍA</a:t>
            </a:r>
          </a:p>
        </p:txBody>
      </p:sp>
      <p:sp>
        <p:nvSpPr>
          <p:cNvPr id="7" name="Shape 4"/>
          <p:cNvSpPr/>
          <p:nvPr/>
        </p:nvSpPr>
        <p:spPr>
          <a:xfrm>
            <a:off x="914400" y="3724275"/>
            <a:ext cx="47625" cy="1091505"/>
          </a:xfrm>
          <a:prstGeom prst="rect">
            <a:avLst/>
          </a:prstGeom>
          <a:solidFill>
            <a:srgbClr val="40C0C0"/>
          </a:solidFill>
          <a:ln/>
        </p:spPr>
      </p:sp>
      <p:sp>
        <p:nvSpPr>
          <p:cNvPr id="8" name="Text 5"/>
          <p:cNvSpPr/>
          <p:nvPr/>
        </p:nvSpPr>
        <p:spPr>
          <a:xfrm>
            <a:off x="1228725" y="3724275"/>
            <a:ext cx="82457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98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LA SESIÓN</a:t>
            </a:r>
          </a:p>
        </p:txBody>
      </p:sp>
      <p:sp>
        <p:nvSpPr>
          <p:cNvPr id="9" name="Text 6"/>
          <p:cNvSpPr/>
          <p:nvPr/>
        </p:nvSpPr>
        <p:spPr>
          <a:xfrm>
            <a:off x="1228725" y="4095750"/>
            <a:ext cx="7721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500"/>
              </a:lnSpc>
              <a:buNone/>
            </a:pPr>
            <a:r>
              <a:rPr lang="en-US" sz="2025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Revisar avance, compromisos y evidencias.</a:t>
            </a:r>
          </a:p>
        </p:txBody>
      </p:sp>
      <p:sp>
        <p:nvSpPr>
          <p:cNvPr id="10" name="Shape 7"/>
          <p:cNvSpPr/>
          <p:nvPr/>
        </p:nvSpPr>
        <p:spPr>
          <a:xfrm>
            <a:off x="914400" y="5063430"/>
            <a:ext cx="47625" cy="1095375"/>
          </a:xfrm>
          <a:prstGeom prst="rect">
            <a:avLst/>
          </a:prstGeom>
          <a:solidFill>
            <a:srgbClr val="40C0C0"/>
          </a:solidFill>
          <a:ln/>
        </p:spPr>
      </p:sp>
      <p:sp>
        <p:nvSpPr>
          <p:cNvPr id="11" name="Text 8"/>
          <p:cNvSpPr/>
          <p:nvPr/>
        </p:nvSpPr>
        <p:spPr>
          <a:xfrm>
            <a:off x="1228725" y="5063430"/>
            <a:ext cx="82457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98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DURANTE LA MENTORÍA</a:t>
            </a:r>
          </a:p>
        </p:txBody>
      </p:sp>
      <p:sp>
        <p:nvSpPr>
          <p:cNvPr id="12" name="Text 9"/>
          <p:cNvSpPr/>
          <p:nvPr/>
        </p:nvSpPr>
        <p:spPr>
          <a:xfrm>
            <a:off x="1228725" y="5434905"/>
            <a:ext cx="772106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500"/>
              </a:lnSpc>
              <a:buNone/>
            </a:pPr>
            <a:r>
              <a:rPr lang="en-US" sz="2025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Priorizar brechas, decisiones e hitos.</a:t>
            </a:r>
          </a:p>
        </p:txBody>
      </p:sp>
      <p:sp>
        <p:nvSpPr>
          <p:cNvPr id="13" name="Shape 10"/>
          <p:cNvSpPr/>
          <p:nvPr/>
        </p:nvSpPr>
        <p:spPr>
          <a:xfrm>
            <a:off x="914400" y="6410325"/>
            <a:ext cx="47625" cy="1091505"/>
          </a:xfrm>
          <a:prstGeom prst="rect">
            <a:avLst/>
          </a:prstGeom>
          <a:solidFill>
            <a:srgbClr val="FFC62F"/>
          </a:solidFill>
          <a:ln/>
        </p:spPr>
      </p:sp>
      <p:sp>
        <p:nvSpPr>
          <p:cNvPr id="14" name="Text 11"/>
          <p:cNvSpPr/>
          <p:nvPr/>
        </p:nvSpPr>
        <p:spPr>
          <a:xfrm>
            <a:off x="1228725" y="6410325"/>
            <a:ext cx="82457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98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DESPUÉS DE LA SESIÓN</a:t>
            </a:r>
          </a:p>
        </p:txBody>
      </p:sp>
      <p:sp>
        <p:nvSpPr>
          <p:cNvPr id="15" name="Text 12"/>
          <p:cNvSpPr/>
          <p:nvPr/>
        </p:nvSpPr>
        <p:spPr>
          <a:xfrm>
            <a:off x="1228725" y="6781800"/>
            <a:ext cx="7721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500"/>
              </a:lnSpc>
              <a:buNone/>
            </a:pPr>
            <a:r>
              <a:rPr lang="en-US" sz="202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Registrar acuerdos y próximos pasos.</a:t>
            </a:r>
          </a:p>
        </p:txBody>
      </p:sp>
      <p:sp>
        <p:nvSpPr>
          <p:cNvPr id="16" name="Shape 13"/>
          <p:cNvSpPr/>
          <p:nvPr/>
        </p:nvSpPr>
        <p:spPr>
          <a:xfrm>
            <a:off x="9063498" y="2803103"/>
            <a:ext cx="8001000" cy="4438650"/>
          </a:xfrm>
          <a:prstGeom prst="rect">
            <a:avLst/>
          </a:prstGeom>
          <a:solidFill>
            <a:srgbClr val="FFFFFF"/>
          </a:solidFill>
          <a:ln/>
          <a:effectLst>
            <a:outerShdw blurRad="342900" dist="114300" dir="5400000" algn="bl" rotWithShape="0">
              <a:srgbClr val="1E505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520698" y="3146003"/>
            <a:ext cx="77952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LA ETAPA</a:t>
            </a:r>
          </a:p>
        </p:txBody>
      </p:sp>
      <p:sp>
        <p:nvSpPr>
          <p:cNvPr id="18" name="Shape 15"/>
          <p:cNvSpPr/>
          <p:nvPr/>
        </p:nvSpPr>
        <p:spPr>
          <a:xfrm>
            <a:off x="9520698" y="4508078"/>
            <a:ext cx="7086600" cy="9525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19" name="Text 16"/>
          <p:cNvSpPr/>
          <p:nvPr/>
        </p:nvSpPr>
        <p:spPr>
          <a:xfrm>
            <a:off x="9520698" y="3707978"/>
            <a:ext cx="67475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Mentoría</a:t>
            </a:r>
          </a:p>
        </p:txBody>
      </p:sp>
      <p:sp>
        <p:nvSpPr>
          <p:cNvPr id="20" name="Text 17"/>
          <p:cNvSpPr/>
          <p:nvPr/>
        </p:nvSpPr>
        <p:spPr>
          <a:xfrm>
            <a:off x="9520698" y="4069928"/>
            <a:ext cx="67475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sesiones por etapa, cada 15 días</a:t>
            </a:r>
          </a:p>
        </p:txBody>
      </p:sp>
      <p:sp>
        <p:nvSpPr>
          <p:cNvPr id="21" name="Text 18"/>
          <p:cNvSpPr/>
          <p:nvPr/>
        </p:nvSpPr>
        <p:spPr>
          <a:xfrm>
            <a:off x="15769098" y="3707978"/>
            <a:ext cx="838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h</a:t>
            </a:r>
            <a:endParaRPr lang="en-US" sz="2400"/>
          </a:p>
        </p:txBody>
      </p:sp>
      <p:sp>
        <p:nvSpPr>
          <p:cNvPr id="22" name="Shape 19"/>
          <p:cNvSpPr/>
          <p:nvPr/>
        </p:nvSpPr>
        <p:spPr>
          <a:xfrm>
            <a:off x="9520698" y="5755853"/>
            <a:ext cx="7086600" cy="9525"/>
          </a:xfrm>
          <a:prstGeom prst="rect">
            <a:avLst/>
          </a:prstGeom>
          <a:solidFill>
            <a:srgbClr val="DCE6E6"/>
          </a:solidFill>
          <a:ln/>
        </p:spPr>
      </p:sp>
      <p:sp>
        <p:nvSpPr>
          <p:cNvPr id="23" name="Text 20"/>
          <p:cNvSpPr/>
          <p:nvPr/>
        </p:nvSpPr>
        <p:spPr>
          <a:xfrm>
            <a:off x="9520698" y="4631903"/>
            <a:ext cx="67475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Hito de la etapa</a:t>
            </a:r>
          </a:p>
        </p:txBody>
      </p:sp>
      <p:sp>
        <p:nvSpPr>
          <p:cNvPr id="24" name="Text 21"/>
          <p:cNvSpPr/>
          <p:nvPr/>
        </p:nvSpPr>
        <p:spPr>
          <a:xfrm>
            <a:off x="9520698" y="4993853"/>
            <a:ext cx="631812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Conectar el avance del equipo con el hito previsto en la ruta.</a:t>
            </a:r>
          </a:p>
        </p:txBody>
      </p:sp>
      <p:sp>
        <p:nvSpPr>
          <p:cNvPr id="27" name="Text 24"/>
          <p:cNvSpPr/>
          <p:nvPr/>
        </p:nvSpPr>
        <p:spPr>
          <a:xfrm>
            <a:off x="9520698" y="5879678"/>
            <a:ext cx="67475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Ejemplo · Etapa 0</a:t>
            </a:r>
          </a:p>
        </p:txBody>
      </p:sp>
      <p:sp>
        <p:nvSpPr>
          <p:cNvPr id="28" name="Text 25"/>
          <p:cNvSpPr/>
          <p:nvPr/>
        </p:nvSpPr>
        <p:spPr>
          <a:xfrm>
            <a:off x="9520698" y="6241628"/>
            <a:ext cx="631812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Línea base + KPIs + plan individual + hitos técnico-comerciales.</a:t>
            </a:r>
          </a:p>
        </p:txBody>
      </p:sp>
      <p:sp>
        <p:nvSpPr>
          <p:cNvPr id="36" name="Shape 33"/>
          <p:cNvSpPr/>
          <p:nvPr/>
        </p:nvSpPr>
        <p:spPr>
          <a:xfrm>
            <a:off x="9063498" y="7239000"/>
            <a:ext cx="8001000" cy="895350"/>
          </a:xfrm>
          <a:prstGeom prst="rect">
            <a:avLst/>
          </a:prstGeom>
          <a:solidFill>
            <a:srgbClr val="40C0C0"/>
          </a:solidFill>
          <a:ln/>
        </p:spPr>
      </p:sp>
      <p:sp>
        <p:nvSpPr>
          <p:cNvPr id="37" name="Text 34"/>
          <p:cNvSpPr/>
          <p:nvPr/>
        </p:nvSpPr>
        <p:spPr>
          <a:xfrm>
            <a:off x="9520698" y="7477125"/>
            <a:ext cx="438319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Mentoría en toda la ruta</a:t>
            </a:r>
          </a:p>
        </p:txBody>
      </p:sp>
      <p:sp>
        <p:nvSpPr>
          <p:cNvPr id="38" name="Text 35"/>
          <p:cNvSpPr/>
          <p:nvPr/>
        </p:nvSpPr>
        <p:spPr>
          <a:xfrm>
            <a:off x="15563850" y="7315200"/>
            <a:ext cx="11906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>
                <a:solidFill>
                  <a:srgbClr val="16353A"/>
                </a:solidFill>
                <a:latin typeface="Poppins"/>
                <a:cs typeface="Poppins"/>
              </a:rPr>
              <a:t>12 h</a:t>
            </a:r>
          </a:p>
        </p:txBody>
      </p:sp>
      <p:sp>
        <p:nvSpPr>
          <p:cNvPr id="39" name="Text 36"/>
          <p:cNvSpPr/>
          <p:nvPr/>
        </p:nvSpPr>
        <p:spPr>
          <a:xfrm>
            <a:off x="914400" y="9667875"/>
            <a:ext cx="8786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19</a:t>
            </a:r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B1ACD510-0F31-5800-E738-DB7B8C13D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44" name="Imagen 35">
            <a:extLst>
              <a:ext uri="{FF2B5EF4-FFF2-40B4-BE49-F238E27FC236}">
                <a16:creationId xmlns:a16="http://schemas.microsoft.com/office/drawing/2014/main" id="{683DDA22-48B8-C385-789C-39A18A5E9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14400" y="1619250"/>
            <a:ext cx="105613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200"/>
              </a:lnSpc>
              <a:buNone/>
            </a:pPr>
            <a:r>
              <a:rPr lang="en-US" sz="6300" b="1" kern="0" spc="-126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Seguimientos técnicos</a:t>
            </a:r>
            <a:endParaRPr lang="en-US" sz="6300"/>
          </a:p>
        </p:txBody>
      </p:sp>
      <p:sp>
        <p:nvSpPr>
          <p:cNvPr id="5" name="Text 2"/>
          <p:cNvSpPr/>
          <p:nvPr/>
        </p:nvSpPr>
        <p:spPr>
          <a:xfrm>
            <a:off x="914400" y="2571750"/>
            <a:ext cx="9889236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hitos de revisión conjunta en los que se verifica el avance real del proyecto.</a:t>
            </a:r>
            <a:endParaRPr lang="en-US" sz="2100"/>
          </a:p>
        </p:txBody>
      </p:sp>
      <p:sp>
        <p:nvSpPr>
          <p:cNvPr id="6" name="Shape 3"/>
          <p:cNvSpPr/>
          <p:nvPr/>
        </p:nvSpPr>
        <p:spPr>
          <a:xfrm>
            <a:off x="11277600" y="1920180"/>
            <a:ext cx="47625" cy="1371600"/>
          </a:xfrm>
          <a:prstGeom prst="rect">
            <a:avLst/>
          </a:prstGeom>
          <a:solidFill>
            <a:srgbClr val="40C0C0"/>
          </a:solidFill>
          <a:ln/>
        </p:spPr>
      </p:sp>
      <p:sp>
        <p:nvSpPr>
          <p:cNvPr id="7" name="Text 4"/>
          <p:cNvSpPr/>
          <p:nvPr/>
        </p:nvSpPr>
        <p:spPr>
          <a:xfrm>
            <a:off x="11553825" y="1920180"/>
            <a:ext cx="64017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3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PARTICIPAN</a:t>
            </a:r>
            <a:endParaRPr lang="en-US" sz="1650"/>
          </a:p>
        </p:txBody>
      </p:sp>
      <p:sp>
        <p:nvSpPr>
          <p:cNvPr id="8" name="Text 5"/>
          <p:cNvSpPr/>
          <p:nvPr/>
        </p:nvSpPr>
        <p:spPr>
          <a:xfrm>
            <a:off x="11553825" y="2291655"/>
            <a:ext cx="599436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1875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Impacta, la Gerencia de Investigación y Transferencia, el mentor asignado y el equipo investigador.</a:t>
            </a:r>
            <a:endParaRPr lang="en-US" sz="1875"/>
          </a:p>
        </p:txBody>
      </p:sp>
      <p:sp>
        <p:nvSpPr>
          <p:cNvPr id="9" name="Shape 6"/>
          <p:cNvSpPr/>
          <p:nvPr/>
        </p:nvSpPr>
        <p:spPr>
          <a:xfrm>
            <a:off x="914400" y="3714750"/>
            <a:ext cx="8058150" cy="4762500"/>
          </a:xfrm>
          <a:prstGeom prst="rect">
            <a:avLst/>
          </a:prstGeom>
          <a:solidFill>
            <a:srgbClr val="40C0C0"/>
          </a:solidFill>
          <a:ln/>
        </p:spPr>
      </p:sp>
      <p:sp>
        <p:nvSpPr>
          <p:cNvPr id="10" name="Text 7"/>
          <p:cNvSpPr/>
          <p:nvPr/>
        </p:nvSpPr>
        <p:spPr>
          <a:xfrm>
            <a:off x="1409700" y="4133850"/>
            <a:ext cx="77743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SEGUIMIENTO TÉCNICO 1 · MITAD DEL PROCESO</a:t>
            </a:r>
            <a:endParaRPr lang="en-US" sz="1800"/>
          </a:p>
        </p:txBody>
      </p:sp>
      <p:sp>
        <p:nvSpPr>
          <p:cNvPr id="11" name="Text 8"/>
          <p:cNvSpPr/>
          <p:nvPr/>
        </p:nvSpPr>
        <p:spPr>
          <a:xfrm>
            <a:off x="1409700" y="4638675"/>
            <a:ext cx="7279577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00" b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 </a:t>
            </a:r>
            <a:r>
              <a:rPr lang="en-US" sz="2400" b="1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cierre</a:t>
            </a:r>
            <a:r>
              <a:rPr lang="en-US" sz="2400" b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la Etapa 2 · </a:t>
            </a:r>
            <a:r>
              <a:rPr lang="en-US" sz="2400" b="1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Validación</a:t>
            </a:r>
            <a:r>
              <a:rPr lang="en-US" sz="2400" b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b="1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</a:t>
            </a:r>
            <a:r>
              <a:rPr lang="en-US" sz="2400" b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valor</a:t>
            </a:r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1409701" y="5541466"/>
            <a:ext cx="7067550" cy="1518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Revisa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avance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técnico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la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evidencia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mercado,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 la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valor, las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brechas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del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 la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coherencia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entre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siguiente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hito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técnico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 la </a:t>
            </a:r>
            <a:r>
              <a:rPr lang="en-US" sz="2400" err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</a:t>
            </a: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400"/>
          </a:p>
        </p:txBody>
      </p:sp>
      <p:sp>
        <p:nvSpPr>
          <p:cNvPr id="13" name="Shape 10"/>
          <p:cNvSpPr/>
          <p:nvPr/>
        </p:nvSpPr>
        <p:spPr>
          <a:xfrm>
            <a:off x="1409700" y="7260134"/>
            <a:ext cx="7067550" cy="9525"/>
          </a:xfrm>
          <a:prstGeom prst="rect">
            <a:avLst/>
          </a:prstGeom>
          <a:solidFill>
            <a:srgbClr val="16353A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409700" y="7441109"/>
            <a:ext cx="727957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1800" b="1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Producto: acta + ajustes al plan + decisiones para el Producto Minimo Viable y el Go To Market.</a:t>
            </a:r>
            <a:endParaRPr lang="en-US" sz="1800"/>
          </a:p>
        </p:txBody>
      </p:sp>
      <p:sp>
        <p:nvSpPr>
          <p:cNvPr id="15" name="Shape 12"/>
          <p:cNvSpPr/>
          <p:nvPr/>
        </p:nvSpPr>
        <p:spPr>
          <a:xfrm>
            <a:off x="9315450" y="3714750"/>
            <a:ext cx="8058150" cy="4762500"/>
          </a:xfrm>
          <a:prstGeom prst="rect">
            <a:avLst/>
          </a:prstGeom>
          <a:solidFill>
            <a:srgbClr val="4D5158"/>
          </a:solidFill>
          <a:ln/>
        </p:spPr>
      </p:sp>
      <p:sp>
        <p:nvSpPr>
          <p:cNvPr id="16" name="Text 13"/>
          <p:cNvSpPr/>
          <p:nvPr/>
        </p:nvSpPr>
        <p:spPr>
          <a:xfrm>
            <a:off x="9810750" y="4133850"/>
            <a:ext cx="77743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>
                <a:solidFill>
                  <a:srgbClr val="8FE0D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SEGUIMIENTO TÉCNICO 2 · CIERRE</a:t>
            </a:r>
            <a:endParaRPr lang="en-US" sz="1800"/>
          </a:p>
        </p:txBody>
      </p:sp>
      <p:sp>
        <p:nvSpPr>
          <p:cNvPr id="17" name="Text 14"/>
          <p:cNvSpPr/>
          <p:nvPr/>
        </p:nvSpPr>
        <p:spPr>
          <a:xfrm>
            <a:off x="9810750" y="4638675"/>
            <a:ext cx="777430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la Etapa 5 · Impacto, al cierre de la ruta</a:t>
            </a:r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9810750" y="5427463"/>
            <a:ext cx="6943418" cy="1499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TRL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alcanzado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PMV y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pilotos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negocio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las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finanzas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impacto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readiness para la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siguiente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</a:t>
            </a:r>
            <a:r>
              <a:rPr lang="en-US" sz="24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400"/>
          </a:p>
        </p:txBody>
      </p:sp>
      <p:sp>
        <p:nvSpPr>
          <p:cNvPr id="19" name="Shape 16"/>
          <p:cNvSpPr/>
          <p:nvPr/>
        </p:nvSpPr>
        <p:spPr>
          <a:xfrm>
            <a:off x="9810750" y="7568654"/>
            <a:ext cx="706755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810750" y="7749629"/>
            <a:ext cx="727957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Producto: acta final + recomendación + roadmap.</a:t>
            </a:r>
            <a:endParaRPr lang="en-US" sz="1800"/>
          </a:p>
        </p:txBody>
      </p:sp>
      <p:sp>
        <p:nvSpPr>
          <p:cNvPr id="21" name="Text 18"/>
          <p:cNvSpPr/>
          <p:nvPr/>
        </p:nvSpPr>
        <p:spPr>
          <a:xfrm>
            <a:off x="16589871" y="9591675"/>
            <a:ext cx="8599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19</a:t>
            </a:r>
          </a:p>
        </p:txBody>
      </p:sp>
      <p:sp>
        <p:nvSpPr>
          <p:cNvPr id="3140" name="Aporte mentor"/>
          <p:cNvSpPr/>
          <p:nvPr/>
        </p:nvSpPr>
        <p:spPr>
          <a:xfrm>
            <a:off x="914400" y="8686800"/>
            <a:ext cx="16459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E3"/>
            </a:solidFill>
          </a:ln>
        </p:spPr>
      </p:sp>
      <p:sp>
        <p:nvSpPr>
          <p:cNvPr id="3141" name="Punto"/>
          <p:cNvSpPr/>
          <p:nvPr/>
        </p:nvSpPr>
        <p:spPr>
          <a:xfrm>
            <a:off x="1238250" y="9001125"/>
            <a:ext cx="133350" cy="133350"/>
          </a:xfrm>
          <a:prstGeom prst="ellipse">
            <a:avLst/>
          </a:prstGeom>
          <a:solidFill>
            <a:srgbClr val="FFC62F"/>
          </a:solidFill>
          <a:ln>
            <a:noFill/>
          </a:ln>
        </p:spPr>
      </p:sp>
      <p:sp>
        <p:nvSpPr>
          <p:cNvPr id="3142" name="Aporte etiqueta"/>
          <p:cNvSpPr txBox="1"/>
          <p:nvPr/>
        </p:nvSpPr>
        <p:spPr>
          <a:xfrm>
            <a:off x="1524000" y="8858250"/>
            <a:ext cx="4000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s-CO" sz="1800" b="1" spc="200" dirty="0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MENTOR APORTA</a:t>
            </a:r>
          </a:p>
        </p:txBody>
      </p:sp>
      <p:sp>
        <p:nvSpPr>
          <p:cNvPr id="3143" name="Aporte items"/>
          <p:cNvSpPr txBox="1"/>
          <p:nvPr/>
        </p:nvSpPr>
        <p:spPr>
          <a:xfrm>
            <a:off x="5334000" y="8858250"/>
            <a:ext cx="119062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s-CO" sz="1850" b="1" dirty="0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Avance observado   ·   Brechas   ·   Decisiones pendientes   ·   Recomendación para el siguiente hito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980000">
            <a:off x="13321417" y="4959957"/>
            <a:ext cx="7810500" cy="7810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619250"/>
            <a:ext cx="181051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6667"/>
              </a:lnSpc>
              <a:buNone/>
            </a:pPr>
            <a:r>
              <a:rPr lang="en-US" sz="6900" b="1" kern="0" spc="-138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Próximos pasos</a:t>
            </a:r>
            <a:endParaRPr lang="en-US" sz="6900"/>
          </a:p>
        </p:txBody>
      </p:sp>
      <p:sp>
        <p:nvSpPr>
          <p:cNvPr id="6" name="Text 2"/>
          <p:cNvSpPr/>
          <p:nvPr/>
        </p:nvSpPr>
        <p:spPr>
          <a:xfrm>
            <a:off x="914400" y="2647950"/>
            <a:ext cx="18105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>
                <a:solidFill>
                  <a:srgbClr val="7A7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sigue para cada mentor en el arranque de la Etapa 0.</a:t>
            </a:r>
          </a:p>
        </p:txBody>
      </p:sp>
      <p:sp>
        <p:nvSpPr>
          <p:cNvPr id="7" name="Shape 3"/>
          <p:cNvSpPr/>
          <p:nvPr/>
        </p:nvSpPr>
        <p:spPr>
          <a:xfrm>
            <a:off x="914400" y="4000500"/>
            <a:ext cx="685800" cy="685800"/>
          </a:xfrm>
          <a:prstGeom prst="ellipse">
            <a:avLst/>
          </a:prstGeom>
          <a:solidFill>
            <a:srgbClr val="40C0C0"/>
          </a:solidFill>
          <a:ln/>
        </p:spPr>
      </p:sp>
      <p:sp>
        <p:nvSpPr>
          <p:cNvPr id="8" name="Text 4"/>
          <p:cNvSpPr/>
          <p:nvPr/>
        </p:nvSpPr>
        <p:spPr>
          <a:xfrm>
            <a:off x="876300" y="40005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</a:p>
        </p:txBody>
      </p:sp>
      <p:sp>
        <p:nvSpPr>
          <p:cNvPr id="9" name="Shape 5"/>
          <p:cNvSpPr/>
          <p:nvPr/>
        </p:nvSpPr>
        <p:spPr>
          <a:xfrm>
            <a:off x="1714500" y="4333875"/>
            <a:ext cx="1866900" cy="19050"/>
          </a:xfrm>
          <a:prstGeom prst="rect">
            <a:avLst/>
          </a:prstGeom>
          <a:solidFill>
            <a:srgbClr val="A8E3E2"/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4876800"/>
            <a:ext cx="25908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19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Confirmar las iniciativas asignadas.</a:t>
            </a:r>
          </a:p>
        </p:txBody>
      </p:sp>
      <p:sp>
        <p:nvSpPr>
          <p:cNvPr id="11" name="Shape 7"/>
          <p:cNvSpPr/>
          <p:nvPr/>
        </p:nvSpPr>
        <p:spPr>
          <a:xfrm>
            <a:off x="3695700" y="4000500"/>
            <a:ext cx="685800" cy="685800"/>
          </a:xfrm>
          <a:prstGeom prst="ellipse">
            <a:avLst/>
          </a:prstGeom>
          <a:solidFill>
            <a:srgbClr val="40C0C0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0" y="40005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</a:p>
        </p:txBody>
      </p:sp>
      <p:sp>
        <p:nvSpPr>
          <p:cNvPr id="13" name="Shape 9"/>
          <p:cNvSpPr/>
          <p:nvPr/>
        </p:nvSpPr>
        <p:spPr>
          <a:xfrm>
            <a:off x="4495800" y="4333875"/>
            <a:ext cx="1866900" cy="19050"/>
          </a:xfrm>
          <a:prstGeom prst="rect">
            <a:avLst/>
          </a:prstGeom>
          <a:solidFill>
            <a:srgbClr val="A8E3E2"/>
          </a:solidFill>
          <a:ln/>
        </p:spPr>
      </p:sp>
      <p:sp>
        <p:nvSpPr>
          <p:cNvPr id="14" name="Text 10"/>
          <p:cNvSpPr/>
          <p:nvPr/>
        </p:nvSpPr>
        <p:spPr>
          <a:xfrm>
            <a:off x="3695700" y="4876800"/>
            <a:ext cx="25908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19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Recibir la información base de cada iniciativa.</a:t>
            </a:r>
          </a:p>
        </p:txBody>
      </p:sp>
      <p:sp>
        <p:nvSpPr>
          <p:cNvPr id="15" name="Shape 11"/>
          <p:cNvSpPr/>
          <p:nvPr/>
        </p:nvSpPr>
        <p:spPr>
          <a:xfrm>
            <a:off x="6477000" y="4000500"/>
            <a:ext cx="685800" cy="685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0C0C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67475" y="4029075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</a:p>
        </p:txBody>
      </p:sp>
      <p:sp>
        <p:nvSpPr>
          <p:cNvPr id="17" name="Shape 13"/>
          <p:cNvSpPr/>
          <p:nvPr/>
        </p:nvSpPr>
        <p:spPr>
          <a:xfrm>
            <a:off x="7277100" y="4333875"/>
            <a:ext cx="1866900" cy="19050"/>
          </a:xfrm>
          <a:prstGeom prst="rect">
            <a:avLst/>
          </a:prstGeom>
          <a:solidFill>
            <a:srgbClr val="A8E3E2"/>
          </a:solidFill>
          <a:ln/>
        </p:spPr>
      </p:sp>
      <p:sp>
        <p:nvSpPr>
          <p:cNvPr id="18" name="Text 14"/>
          <p:cNvSpPr/>
          <p:nvPr/>
        </p:nvSpPr>
        <p:spPr>
          <a:xfrm>
            <a:off x="6477000" y="4876800"/>
            <a:ext cx="25908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19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Realizar la primera mentoría.</a:t>
            </a:r>
          </a:p>
        </p:txBody>
      </p:sp>
      <p:sp>
        <p:nvSpPr>
          <p:cNvPr id="19" name="Shape 15"/>
          <p:cNvSpPr/>
          <p:nvPr/>
        </p:nvSpPr>
        <p:spPr>
          <a:xfrm>
            <a:off x="9258300" y="4000500"/>
            <a:ext cx="685800" cy="685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0C0C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248775" y="4029075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</a:p>
        </p:txBody>
      </p:sp>
      <p:sp>
        <p:nvSpPr>
          <p:cNvPr id="21" name="Shape 17"/>
          <p:cNvSpPr/>
          <p:nvPr/>
        </p:nvSpPr>
        <p:spPr>
          <a:xfrm>
            <a:off x="10058400" y="4333875"/>
            <a:ext cx="1866900" cy="19050"/>
          </a:xfrm>
          <a:prstGeom prst="rect">
            <a:avLst/>
          </a:prstGeom>
          <a:solidFill>
            <a:srgbClr val="A8E3E2"/>
          </a:solidFill>
          <a:ln/>
        </p:spPr>
      </p:sp>
      <p:sp>
        <p:nvSpPr>
          <p:cNvPr id="22" name="Text 18"/>
          <p:cNvSpPr/>
          <p:nvPr/>
        </p:nvSpPr>
        <p:spPr>
          <a:xfrm>
            <a:off x="9258300" y="4876800"/>
            <a:ext cx="25908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3333"/>
              </a:lnSpc>
            </a:pPr>
            <a:r>
              <a:rPr lang="en-US" sz="1950" dirty="0">
                <a:solidFill>
                  <a:srgbClr val="4D5158"/>
                </a:solidFill>
                <a:latin typeface="Poppins"/>
                <a:ea typeface="Poppins" pitchFamily="34" charset="-122"/>
                <a:cs typeface="Poppins"/>
              </a:rPr>
              <a:t>Co-</a:t>
            </a:r>
            <a:r>
              <a:rPr lang="en-US" sz="1950" dirty="0" err="1">
                <a:solidFill>
                  <a:srgbClr val="4D5158"/>
                </a:solidFill>
                <a:latin typeface="Poppins"/>
                <a:ea typeface="Poppins" pitchFamily="34" charset="-122"/>
                <a:cs typeface="Poppins"/>
              </a:rPr>
              <a:t>construir</a:t>
            </a:r>
            <a:r>
              <a:rPr lang="en-US" sz="1950" dirty="0">
                <a:solidFill>
                  <a:srgbClr val="4D5158"/>
                </a:solidFill>
                <a:latin typeface="Poppins"/>
                <a:ea typeface="Poppins" pitchFamily="34" charset="-122"/>
                <a:cs typeface="Poppins"/>
              </a:rPr>
              <a:t> el plan de </a:t>
            </a:r>
            <a:r>
              <a:rPr lang="en-US" sz="1950" dirty="0" err="1">
                <a:solidFill>
                  <a:srgbClr val="4D5158"/>
                </a:solidFill>
                <a:latin typeface="Poppins"/>
                <a:ea typeface="Poppins" pitchFamily="34" charset="-122"/>
                <a:cs typeface="Poppins"/>
              </a:rPr>
              <a:t>trabajo</a:t>
            </a:r>
            <a:r>
              <a:rPr lang="en-US" sz="1950" dirty="0">
                <a:solidFill>
                  <a:srgbClr val="4D5158"/>
                </a:solidFill>
                <a:latin typeface="Poppins"/>
                <a:ea typeface="Poppins" pitchFamily="34" charset="-122"/>
                <a:cs typeface="Poppins"/>
              </a:rPr>
              <a:t> y la </a:t>
            </a:r>
            <a:r>
              <a:rPr lang="en-US" sz="1950" dirty="0" err="1">
                <a:solidFill>
                  <a:srgbClr val="4D5158"/>
                </a:solidFill>
                <a:latin typeface="Poppins"/>
                <a:ea typeface="Poppins" pitchFamily="34" charset="-122"/>
                <a:cs typeface="Poppins"/>
              </a:rPr>
              <a:t>linea</a:t>
            </a:r>
            <a:r>
              <a:rPr lang="en-US" sz="1950" dirty="0">
                <a:solidFill>
                  <a:srgbClr val="4D5158"/>
                </a:solidFill>
                <a:latin typeface="Poppins"/>
                <a:ea typeface="Poppins" pitchFamily="34" charset="-122"/>
                <a:cs typeface="Poppins"/>
              </a:rPr>
              <a:t> base.</a:t>
            </a:r>
          </a:p>
        </p:txBody>
      </p:sp>
      <p:sp>
        <p:nvSpPr>
          <p:cNvPr id="23" name="Shape 19"/>
          <p:cNvSpPr/>
          <p:nvPr/>
        </p:nvSpPr>
        <p:spPr>
          <a:xfrm>
            <a:off x="14820900" y="4000500"/>
            <a:ext cx="685800" cy="685800"/>
          </a:xfrm>
          <a:prstGeom prst="ellipse">
            <a:avLst/>
          </a:prstGeom>
          <a:solidFill>
            <a:srgbClr val="FFC62F"/>
          </a:solidFill>
          <a:ln/>
        </p:spPr>
      </p:sp>
      <p:sp>
        <p:nvSpPr>
          <p:cNvPr id="24" name="Text 20"/>
          <p:cNvSpPr/>
          <p:nvPr/>
        </p:nvSpPr>
        <p:spPr>
          <a:xfrm>
            <a:off x="14782800" y="40005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>
                <a:solidFill>
                  <a:srgbClr val="3A3D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</a:p>
        </p:txBody>
      </p:sp>
      <p:sp>
        <p:nvSpPr>
          <p:cNvPr id="25" name="Text 21"/>
          <p:cNvSpPr/>
          <p:nvPr/>
        </p:nvSpPr>
        <p:spPr>
          <a:xfrm>
            <a:off x="14820900" y="4876800"/>
            <a:ext cx="25908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19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Preparar el primer seguimiento técnico-comercial.</a:t>
            </a:r>
          </a:p>
        </p:txBody>
      </p:sp>
      <p:sp>
        <p:nvSpPr>
          <p:cNvPr id="26" name="Shape 22"/>
          <p:cNvSpPr/>
          <p:nvPr/>
        </p:nvSpPr>
        <p:spPr>
          <a:xfrm>
            <a:off x="914400" y="8867775"/>
            <a:ext cx="47625" cy="371475"/>
          </a:xfrm>
          <a:prstGeom prst="rect">
            <a:avLst/>
          </a:prstGeom>
          <a:solidFill>
            <a:srgbClr val="40C0C0"/>
          </a:solidFill>
          <a:ln/>
        </p:spPr>
      </p:sp>
      <p:sp>
        <p:nvSpPr>
          <p:cNvPr id="27" name="Text 23"/>
          <p:cNvSpPr/>
          <p:nvPr/>
        </p:nvSpPr>
        <p:spPr>
          <a:xfrm>
            <a:off x="1190625" y="8867775"/>
            <a:ext cx="161925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dudas sobre asignaciones y seguimientos se resuelven con la coordinación de la convocatoria.</a:t>
            </a:r>
          </a:p>
        </p:txBody>
      </p:sp>
      <p:sp>
        <p:nvSpPr>
          <p:cNvPr id="28" name="Text 24"/>
          <p:cNvSpPr/>
          <p:nvPr/>
        </p:nvSpPr>
        <p:spPr>
          <a:xfrm>
            <a:off x="914400" y="9591675"/>
            <a:ext cx="9194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19</a:t>
            </a: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C2D0A2CE-14A6-131D-42B1-788965134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575"/>
            <a:ext cx="3183922" cy="704850"/>
          </a:xfrm>
          <a:prstGeom prst="rect">
            <a:avLst/>
          </a:prstGeom>
        </p:spPr>
      </p:pic>
      <p:pic>
        <p:nvPicPr>
          <p:cNvPr id="32" name="Imagen 35">
            <a:extLst>
              <a:ext uri="{FF2B5EF4-FFF2-40B4-BE49-F238E27FC236}">
                <a16:creationId xmlns:a16="http://schemas.microsoft.com/office/drawing/2014/main" id="{48D71011-2FB1-9167-5A8C-D53DE6BDF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122" y="409575"/>
            <a:ext cx="2697874" cy="704850"/>
          </a:xfrm>
          <a:prstGeom prst="rect">
            <a:avLst/>
          </a:prstGeom>
        </p:spPr>
      </p:pic>
      <p:sp>
        <p:nvSpPr>
          <p:cNvPr id="3144" name="Shape 15b"/>
          <p:cNvSpPr/>
          <p:nvPr/>
        </p:nvSpPr>
        <p:spPr>
          <a:xfrm>
            <a:off x="12039600" y="4000500"/>
            <a:ext cx="685800" cy="685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0C0C0"/>
            </a:solidFill>
            <a:prstDash val="solid"/>
          </a:ln>
        </p:spPr>
      </p:sp>
      <p:sp>
        <p:nvSpPr>
          <p:cNvPr id="3145" name="Text 16b"/>
          <p:cNvSpPr/>
          <p:nvPr/>
        </p:nvSpPr>
        <p:spPr>
          <a:xfrm>
            <a:off x="12030075" y="4029075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>
                <a:solidFill>
                  <a:srgbClr val="0B7A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</a:p>
        </p:txBody>
      </p:sp>
      <p:sp>
        <p:nvSpPr>
          <p:cNvPr id="3146" name="Shape 17b"/>
          <p:cNvSpPr/>
          <p:nvPr/>
        </p:nvSpPr>
        <p:spPr>
          <a:xfrm>
            <a:off x="12839700" y="4333875"/>
            <a:ext cx="1866900" cy="19050"/>
          </a:xfrm>
          <a:prstGeom prst="rect">
            <a:avLst/>
          </a:prstGeom>
          <a:solidFill>
            <a:srgbClr val="A8E3E2"/>
          </a:solidFill>
          <a:ln/>
        </p:spPr>
      </p:sp>
      <p:sp>
        <p:nvSpPr>
          <p:cNvPr id="3147" name="Text 18b"/>
          <p:cNvSpPr/>
          <p:nvPr/>
        </p:nvSpPr>
        <p:spPr>
          <a:xfrm>
            <a:off x="12039600" y="4876800"/>
            <a:ext cx="25908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1950">
                <a:solidFill>
                  <a:srgbClr val="4D515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Registrar acuerdos y compromisos.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D5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781050"/>
            <a:ext cx="1976617" cy="4381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13433" r="13433"/>
          <a:stretch/>
        </p:blipFill>
        <p:spPr>
          <a:xfrm>
            <a:off x="11239500" y="2190750"/>
            <a:ext cx="6477000" cy="5905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0" y="6953250"/>
            <a:ext cx="2095500" cy="194354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428750" y="2381250"/>
            <a:ext cx="10668000" cy="6096000"/>
          </a:xfrm>
          <a:prstGeom prst="rect">
            <a:avLst/>
          </a:prstGeom>
          <a:gradFill rotWithShape="1">
            <a:gsLst>
              <a:gs pos="0">
                <a:srgbClr val="3DBAB7">
                  <a:alpha val="100000"/>
                </a:srgbClr>
              </a:gs>
              <a:gs pos="100000">
                <a:srgbClr val="4FCBC8">
                  <a:alpha val="100000"/>
                </a:srgbClr>
              </a:gs>
            </a:gsLst>
            <a:lin ang="2700000" scaled="0"/>
          </a:gradFill>
          <a:ln/>
          <a:effectLst>
            <a:outerShdw blurRad="762000" dist="28575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2476500" y="2800350"/>
            <a:ext cx="419100" cy="419100"/>
          </a:xfrm>
          <a:prstGeom prst="ellipse">
            <a:avLst/>
          </a:prstGeom>
          <a:solidFill>
            <a:srgbClr val="4D5158"/>
          </a:solidFill>
          <a:ln/>
          <a:effectLst>
            <a:outerShdw blurRad="9525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2476500" y="7639050"/>
            <a:ext cx="419100" cy="419100"/>
          </a:xfrm>
          <a:prstGeom prst="ellipse">
            <a:avLst/>
          </a:prstGeom>
          <a:solidFill>
            <a:srgbClr val="4D5158"/>
          </a:solidFill>
          <a:ln/>
          <a:effectLst>
            <a:outerShdw blurRad="9525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2476500" y="3606180"/>
            <a:ext cx="9429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COHORTE I 2026</a:t>
            </a:r>
            <a:endParaRPr lang="en-US" sz="2100"/>
          </a:p>
        </p:txBody>
      </p:sp>
      <p:sp>
        <p:nvSpPr>
          <p:cNvPr id="11" name="Text 6"/>
          <p:cNvSpPr/>
          <p:nvPr/>
        </p:nvSpPr>
        <p:spPr>
          <a:xfrm>
            <a:off x="2476500" y="4361557"/>
            <a:ext cx="942975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9790"/>
              </a:lnSpc>
              <a:buNone/>
            </a:pPr>
            <a:r>
              <a:rPr lang="en-US" sz="14250" b="1" kern="0" spc="-428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Gracias</a:t>
            </a:r>
            <a:endParaRPr lang="en-US" sz="14250"/>
          </a:p>
        </p:txBody>
      </p:sp>
      <p:sp>
        <p:nvSpPr>
          <p:cNvPr id="12" name="Text 7"/>
          <p:cNvSpPr/>
          <p:nvPr/>
        </p:nvSpPr>
        <p:spPr>
          <a:xfrm>
            <a:off x="2476500" y="6257032"/>
            <a:ext cx="843724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667"/>
              </a:lnSpc>
              <a:buNone/>
            </a:pPr>
            <a:r>
              <a:rPr lang="en-US" sz="2400">
                <a:solidFill>
                  <a:srgbClr val="163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Nos vemos en la Etapa 0 y en la primera mentoría de la ruta.</a:t>
            </a:r>
          </a:p>
        </p:txBody>
      </p:sp>
      <p:sp>
        <p:nvSpPr>
          <p:cNvPr id="13" name="Text 8"/>
          <p:cNvSpPr/>
          <p:nvPr/>
        </p:nvSpPr>
        <p:spPr>
          <a:xfrm>
            <a:off x="1428750" y="9105900"/>
            <a:ext cx="175393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8FE0DE"/>
                </a:solidFill>
                <a:latin typeface="Poppins"/>
                <a:ea typeface="Poppins" pitchFamily="34" charset="-122"/>
                <a:cs typeface="Poppins"/>
              </a:rPr>
              <a:t>unit</a:t>
            </a:r>
            <a:r>
              <a:rPr lang="en-US" sz="1800" b="1" dirty="0">
                <a:solidFill>
                  <a:srgbClr val="8FE0DE"/>
                </a:solidFill>
                <a:latin typeface="Poppins"/>
                <a:ea typeface="Poppins" pitchFamily="34" charset="-122"/>
                <a:cs typeface="Poppins"/>
              </a:rPr>
              <a:t>@universidadean.edu.co · gerenciaimpacta@universidadean.edu.co</a:t>
            </a:r>
            <a:endParaRPr lang="en-US" sz="1800" dirty="0">
              <a:latin typeface="Poppins"/>
              <a:cs typeface="Poppins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428750" y="9515475"/>
            <a:ext cx="175393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E3E5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Unidad de Innovación y Transferencia (UnIT) · Universidad Ean — Bogotá D.C. · Science2Venture · Cohorte I 2026</a:t>
            </a:r>
            <a:endParaRPr lang="en-US" sz="165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C3366EA-5A86-378E-DEB8-D6D92D420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0342" y="723900"/>
            <a:ext cx="2114550" cy="552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rmulariodeInscripci_x00f3_n xmlns="1891136a-4719-41bc-8ca3-33bd491b18e1">
      <Url xsi:nil="true"/>
      <Description xsi:nil="true"/>
    </FormulariodeInscripci_x00f3_n>
    <SharedWithUsers xmlns="3424a257-952c-4708-8a86-33ff80e046a4">
      <UserInfo>
        <DisplayName/>
        <AccountId xsi:nil="true"/>
        <AccountType/>
      </UserInfo>
    </SharedWithUsers>
    <lcf76f155ced4ddcb4097134ff3c332f xmlns="1891136a-4719-41bc-8ca3-33bd491b18e1">
      <Terms xmlns="http://schemas.microsoft.com/office/infopath/2007/PartnerControls"/>
    </lcf76f155ced4ddcb4097134ff3c332f>
    <TaxCatchAll xmlns="3424a257-952c-4708-8a86-33ff80e046a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8CB23F33E8674C80A349260FC54E9A" ma:contentTypeVersion="20" ma:contentTypeDescription="Crear nuevo documento." ma:contentTypeScope="" ma:versionID="8d1b69753b499b961e0fc984b0616f7a">
  <xsd:schema xmlns:xsd="http://www.w3.org/2001/XMLSchema" xmlns:xs="http://www.w3.org/2001/XMLSchema" xmlns:p="http://schemas.microsoft.com/office/2006/metadata/properties" xmlns:ns2="1891136a-4719-41bc-8ca3-33bd491b18e1" xmlns:ns3="3424a257-952c-4708-8a86-33ff80e046a4" targetNamespace="http://schemas.microsoft.com/office/2006/metadata/properties" ma:root="true" ma:fieldsID="caec2050414450acf5fd6ab84ada1d40" ns2:_="" ns3:_="">
    <xsd:import namespace="1891136a-4719-41bc-8ca3-33bd491b18e1"/>
    <xsd:import namespace="3424a257-952c-4708-8a86-33ff80e046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FormulariodeInscripci_x00f3_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91136a-4719-41bc-8ca3-33bd491b18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d57cae01-22d1-4383-a0bf-52a8c55012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FormulariodeInscripci_x00f3_n" ma:index="27" nillable="true" ma:displayName="Formulario de Inscripción " ma:format="Hyperlink" ma:internalName="FormulariodeInscripci_x00f3_n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24a257-952c-4708-8a86-33ff80e046a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3ef525-d95f-4a17-9338-252439701052}" ma:internalName="TaxCatchAll" ma:showField="CatchAllData" ma:web="3424a257-952c-4708-8a86-33ff80e046a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2631B9-0ACD-406E-BCBC-36050F97D551}">
  <ds:schemaRefs>
    <ds:schemaRef ds:uri="http://schemas.microsoft.com/office/2006/metadata/properties"/>
    <ds:schemaRef ds:uri="http://schemas.microsoft.com/office/infopath/2007/PartnerControls"/>
    <ds:schemaRef ds:uri="1891136a-4719-41bc-8ca3-33bd491b18e1"/>
    <ds:schemaRef ds:uri="3424a257-952c-4708-8a86-33ff80e046a4"/>
  </ds:schemaRefs>
</ds:datastoreItem>
</file>

<file path=customXml/itemProps2.xml><?xml version="1.0" encoding="utf-8"?>
<ds:datastoreItem xmlns:ds="http://schemas.openxmlformats.org/officeDocument/2006/customXml" ds:itemID="{70039C54-C37F-42ED-81A0-2D4BB74EAC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A1B8C6-F6D5-4D24-B23A-3BE72AB8B7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91136a-4719-41bc-8ca3-33bd491b18e1"/>
    <ds:schemaRef ds:uri="3424a257-952c-4708-8a86-33ff80e046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2125</Words>
  <Application>Microsoft Office PowerPoint</Application>
  <PresentationFormat>Personalizado</PresentationFormat>
  <Paragraphs>324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Kick-Off Mentores · Science2Venture Cohorte I 2026</dc:title>
  <dc:subject>PptxGenJS Presentation</dc:subject>
  <dc:creator>PptxGenJS</dc:creator>
  <cp:lastModifiedBy>ANDRES FELIPE CABALLERO CHOLES</cp:lastModifiedBy>
  <cp:revision>30</cp:revision>
  <dcterms:created xsi:type="dcterms:W3CDTF">2026-09-24T13:02:25Z</dcterms:created>
  <dcterms:modified xsi:type="dcterms:W3CDTF">2026-09-29T21:39:19Z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0x0101000A8CB23F33E8674C80A349260FC54E9A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_activity">
    <vt:lpwstr>{"FileActivityType":"9","FileActivityTimeStamp":"2026-09-24T13:18:17.057Z","FileActivityUsersOnPage":[{"DisplayName":"MAURICIO CARDENAS SANDOVAL","Id":"mardenas@universidadean.edu.co"},{"DisplayName":"JUAN DANIEL PENAGOS GONZALEZ","Id":"jdpenagos@universidadean.edu.co"}],"FileActivityNavigationId":null}</vt:lpwstr>
  </property>
  <property fmtid="{D5CDD505-2E9C-101B-9397-08002B2CF9AE}" pid="9" name="TriggerFlowInfo">
    <vt:lpwstr/>
  </property>
</Properties>
</file>